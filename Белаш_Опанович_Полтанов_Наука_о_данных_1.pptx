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sldIdLst>
    <p:sldId id="256" r:id="rId2"/>
    <p:sldId id="286" r:id="rId3"/>
    <p:sldId id="310" r:id="rId4"/>
    <p:sldId id="311" r:id="rId5"/>
    <p:sldId id="300" r:id="rId6"/>
    <p:sldId id="260" r:id="rId7"/>
    <p:sldId id="258" r:id="rId8"/>
    <p:sldId id="295" r:id="rId9"/>
    <p:sldId id="296" r:id="rId10"/>
    <p:sldId id="304" r:id="rId11"/>
    <p:sldId id="306" r:id="rId12"/>
    <p:sldId id="297" r:id="rId13"/>
    <p:sldId id="298" r:id="rId14"/>
    <p:sldId id="301" r:id="rId15"/>
    <p:sldId id="313" r:id="rId16"/>
    <p:sldId id="314" r:id="rId17"/>
    <p:sldId id="305" r:id="rId18"/>
    <p:sldId id="309" r:id="rId19"/>
    <p:sldId id="303" r:id="rId20"/>
    <p:sldId id="302" r:id="rId21"/>
    <p:sldId id="293" r:id="rId22"/>
    <p:sldId id="315" r:id="rId23"/>
    <p:sldId id="316" r:id="rId24"/>
    <p:sldId id="307" r:id="rId25"/>
    <p:sldId id="317" r:id="rId26"/>
    <p:sldId id="299" r:id="rId27"/>
    <p:sldId id="312" r:id="rId28"/>
  </p:sldIdLst>
  <p:sldSz cx="9144000" cy="5143500" type="screen16x9"/>
  <p:notesSz cx="9144000" cy="5143500"/>
  <p:embeddedFontLst>
    <p:embeddedFont>
      <p:font typeface="Consolas" panose="020B0609020204030204" pitchFamily="49" charset="0"/>
      <p:regular r:id="rId29"/>
      <p:bold r:id="rId30"/>
      <p:italic r:id="rId31"/>
      <p:boldItalic r:id="rId32"/>
    </p:embeddedFont>
    <p:embeddedFont>
      <p:font typeface="Lato" panose="020F0502020204030203" pitchFamily="34" charset="0"/>
      <p:regular r:id="rId33"/>
      <p:bold r:id="rId34"/>
      <p:italic r:id="rId35"/>
      <p:boldItalic r:id="rId36"/>
    </p:embeddedFont>
    <p:embeddedFont>
      <p:font typeface="Roboto" panose="02000000000000000000" pitchFamily="2" charset="0"/>
      <p:regular r:id="rId37"/>
    </p:embeddedFont>
  </p:embeddedFontLst>
  <p:defaultTextStyle>
    <a:defPPr marR="0" lvl="0" algn="l">
      <a:lnSpc>
        <a:spcPct val="100000"/>
      </a:lnSpc>
      <a:spcBef>
        <a:spcPts val="0"/>
      </a:spcBef>
      <a:spcAft>
        <a:spcPts val="0"/>
      </a:spcAft>
    </a:defPPr>
    <a:lvl1pPr marR="0" lv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836743E-C5D4-4EAD-8654-733CB0D18D1A}">
  <a:tblStyle styleId="{B836743E-C5D4-4EAD-8654-733CB0D18D1A}" styleName="Table_0">
    <a:wholeTbl>
      <a:tcTxStyle>
        <a:srgbClr val="000000"/>
      </a:tcTxStyle>
      <a:tcStyle>
        <a:tcBdr>
          <a:left>
            <a:ln w="9525">
              <a:solidFill>
                <a:srgbClr val="9E9E9E"/>
              </a:solidFill>
            </a:ln>
          </a:left>
          <a:right>
            <a:ln w="9525">
              <a:solidFill>
                <a:srgbClr val="9E9E9E"/>
              </a:solidFill>
            </a:ln>
          </a:right>
          <a:top>
            <a:ln w="9525">
              <a:solidFill>
                <a:srgbClr val="9E9E9E"/>
              </a:solidFill>
            </a:ln>
          </a:top>
          <a:bottom>
            <a:ln w="9525">
              <a:solidFill>
                <a:srgbClr val="9E9E9E"/>
              </a:solidFill>
            </a:ln>
          </a:bottom>
          <a:insideH>
            <a:ln w="9525">
              <a:solidFill>
                <a:srgbClr val="9E9E9E"/>
              </a:solidFill>
            </a:ln>
          </a:insideH>
          <a:insideV>
            <a:ln w="9525">
              <a:solidFill>
                <a:srgbClr val="9E9E9E"/>
              </a:solidFill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ru-RU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</a:t>
            </a:r>
            <a:r>
              <a:rPr lang="ru-RU" baseline="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ассортимента по топ-10 категорий</a:t>
            </a:r>
            <a:endParaRPr lang="ru-RU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Продажи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0E8-40AA-A8F8-9C93F3F2B1AC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0E8-40AA-A8F8-9C93F3F2B1AC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0E8-40AA-A8F8-9C93F3F2B1AC}"/>
              </c:ext>
            </c:extLst>
          </c:dPt>
          <c:dPt>
            <c:idx val="3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0E8-40AA-A8F8-9C93F3F2B1AC}"/>
              </c:ext>
            </c:extLst>
          </c:dPt>
          <c:dPt>
            <c:idx val="4"/>
            <c:bubble3D val="0"/>
            <c:spPr>
              <a:solidFill>
                <a:srgbClr val="7030A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30E8-40AA-A8F8-9C93F3F2B1AC}"/>
              </c:ext>
            </c:extLst>
          </c:dPt>
          <c:dPt>
            <c:idx val="5"/>
            <c:bubble3D val="0"/>
            <c:spPr>
              <a:solidFill>
                <a:schemeClr val="accent6">
                  <a:lumMod val="50000"/>
                </a:schemeClr>
              </a:solidFill>
              <a:ln w="19050">
                <a:solidFill>
                  <a:schemeClr val="accent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30E8-40AA-A8F8-9C93F3F2B1AC}"/>
              </c:ext>
            </c:extLst>
          </c:dPt>
          <c:dPt>
            <c:idx val="6"/>
            <c:bubble3D val="0"/>
            <c:spPr>
              <a:solidFill>
                <a:schemeClr val="accent4">
                  <a:lumMod val="2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30E8-40AA-A8F8-9C93F3F2B1AC}"/>
              </c:ext>
            </c:extLst>
          </c:dPt>
          <c:dPt>
            <c:idx val="7"/>
            <c:bubble3D val="0"/>
            <c:spPr>
              <a:solidFill>
                <a:srgbClr val="00B0F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30E8-40AA-A8F8-9C93F3F2B1AC}"/>
              </c:ext>
            </c:extLst>
          </c:dPt>
          <c:dPt>
            <c:idx val="8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30E8-40AA-A8F8-9C93F3F2B1AC}"/>
              </c:ext>
            </c:extLst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3-30E8-40AA-A8F8-9C93F3F2B1AC}"/>
              </c:ext>
            </c:extLst>
          </c:dPt>
          <c:dPt>
            <c:idx val="10"/>
            <c:bubble3D val="0"/>
            <c:spPr>
              <a:solidFill>
                <a:schemeClr val="accent5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5-30E8-40AA-A8F8-9C93F3F2B1A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2">
                        <a:lumMod val="50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RU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Лист1!$A$2:$A$12</c:f>
              <c:strCache>
                <c:ptCount val="10"/>
                <c:pt idx="0">
                  <c:v>Детская обувь</c:v>
                </c:pt>
                <c:pt idx="1">
                  <c:v>Эротика</c:v>
                </c:pt>
                <c:pt idx="2">
                  <c:v>Обувь</c:v>
                </c:pt>
                <c:pt idx="3">
                  <c:v>Наручные часы</c:v>
                </c:pt>
                <c:pt idx="4">
                  <c:v>Мебель</c:v>
                </c:pt>
                <c:pt idx="5">
                  <c:v>Детская одежда</c:v>
                </c:pt>
                <c:pt idx="6">
                  <c:v>Детские джинсы и брюки</c:v>
                </c:pt>
                <c:pt idx="7">
                  <c:v>Косметика и добавки</c:v>
                </c:pt>
                <c:pt idx="8">
                  <c:v>Осветительные приборы</c:v>
                </c:pt>
                <c:pt idx="9">
                  <c:v>Книги</c:v>
                </c:pt>
              </c:strCache>
            </c:strRef>
          </c:cat>
          <c:val>
            <c:numRef>
              <c:f>Лист1!$B$2:$B$12</c:f>
              <c:numCache>
                <c:formatCode>General</c:formatCode>
                <c:ptCount val="11"/>
                <c:pt idx="0" formatCode="0.00">
                  <c:v>20.100000000000001</c:v>
                </c:pt>
                <c:pt idx="1">
                  <c:v>14.4</c:v>
                </c:pt>
                <c:pt idx="2">
                  <c:v>9.4</c:v>
                </c:pt>
                <c:pt idx="3">
                  <c:v>9.1999999999999993</c:v>
                </c:pt>
                <c:pt idx="4">
                  <c:v>8.6</c:v>
                </c:pt>
                <c:pt idx="5">
                  <c:v>8.6</c:v>
                </c:pt>
                <c:pt idx="6">
                  <c:v>8.5</c:v>
                </c:pt>
                <c:pt idx="7">
                  <c:v>7.2</c:v>
                </c:pt>
                <c:pt idx="8">
                  <c:v>7.1</c:v>
                </c:pt>
                <c:pt idx="9">
                  <c:v>6.9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6-30E8-40AA-A8F8-9C93F3F2B1AC}"/>
            </c:ext>
          </c:extLst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ru-RU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Динамика средних цен по топ-10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10400861163457316"/>
          <c:y val="0.10927244026119573"/>
          <c:w val="0.86486956122679259"/>
          <c:h val="0.62606197379090078"/>
        </c:manualLayout>
      </c:layout>
      <c:lineChart>
        <c:grouping val="standar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Детская обувь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Лист1!$A$2:$A$4</c:f>
              <c:strCache>
                <c:ptCount val="3"/>
                <c:pt idx="0">
                  <c:v>2021.00</c:v>
                </c:pt>
                <c:pt idx="1">
                  <c:v>2022.00</c:v>
                </c:pt>
                <c:pt idx="2">
                  <c:v>2023.00</c:v>
                </c:pt>
              </c:strCache>
            </c:strRef>
          </c:cat>
          <c:val>
            <c:numRef>
              <c:f>Лист1!$B$2:$B$4</c:f>
              <c:numCache>
                <c:formatCode>General</c:formatCode>
                <c:ptCount val="3"/>
                <c:pt idx="0">
                  <c:v>32</c:v>
                </c:pt>
                <c:pt idx="1">
                  <c:v>42</c:v>
                </c:pt>
                <c:pt idx="2">
                  <c:v>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793-4504-A528-858286CDA145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Эротика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Лист1!$A$2:$A$4</c:f>
              <c:strCache>
                <c:ptCount val="3"/>
                <c:pt idx="0">
                  <c:v>2021.00</c:v>
                </c:pt>
                <c:pt idx="1">
                  <c:v>2022.00</c:v>
                </c:pt>
                <c:pt idx="2">
                  <c:v>2023.00</c:v>
                </c:pt>
              </c:strCache>
            </c:strRef>
          </c:cat>
          <c:val>
            <c:numRef>
              <c:f>Лист1!$C$2:$C$4</c:f>
              <c:numCache>
                <c:formatCode>General</c:formatCode>
                <c:ptCount val="3"/>
                <c:pt idx="0">
                  <c:v>37</c:v>
                </c:pt>
                <c:pt idx="1">
                  <c:v>70</c:v>
                </c:pt>
                <c:pt idx="2">
                  <c:v>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793-4504-A528-858286CDA145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Обувь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cat>
            <c:strRef>
              <c:f>Лист1!$A$2:$A$4</c:f>
              <c:strCache>
                <c:ptCount val="3"/>
                <c:pt idx="0">
                  <c:v>2021.00</c:v>
                </c:pt>
                <c:pt idx="1">
                  <c:v>2022.00</c:v>
                </c:pt>
                <c:pt idx="2">
                  <c:v>2023.00</c:v>
                </c:pt>
              </c:strCache>
            </c:strRef>
          </c:cat>
          <c:val>
            <c:numRef>
              <c:f>Лист1!$D$2:$D$4</c:f>
              <c:numCache>
                <c:formatCode>General</c:formatCode>
                <c:ptCount val="3"/>
                <c:pt idx="0">
                  <c:v>117</c:v>
                </c:pt>
                <c:pt idx="1">
                  <c:v>104</c:v>
                </c:pt>
                <c:pt idx="2">
                  <c:v>101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793-4504-A528-858286CDA145}"/>
            </c:ext>
          </c:extLst>
        </c:ser>
        <c:ser>
          <c:idx val="3"/>
          <c:order val="3"/>
          <c:tx>
            <c:strRef>
              <c:f>Лист1!$E$1</c:f>
              <c:strCache>
                <c:ptCount val="1"/>
                <c:pt idx="0">
                  <c:v>Наручные часы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lumMod val="60000"/>
                </a:schemeClr>
              </a:solidFill>
              <a:ln w="9525">
                <a:solidFill>
                  <a:schemeClr val="accent1">
                    <a:lumMod val="60000"/>
                  </a:schemeClr>
                </a:solidFill>
              </a:ln>
              <a:effectLst/>
            </c:spPr>
          </c:marker>
          <c:cat>
            <c:strRef>
              <c:f>Лист1!$A$2:$A$4</c:f>
              <c:strCache>
                <c:ptCount val="3"/>
                <c:pt idx="0">
                  <c:v>2021.00</c:v>
                </c:pt>
                <c:pt idx="1">
                  <c:v>2022.00</c:v>
                </c:pt>
                <c:pt idx="2">
                  <c:v>2023.00</c:v>
                </c:pt>
              </c:strCache>
            </c:strRef>
          </c:cat>
          <c:val>
            <c:numRef>
              <c:f>Лист1!$E$2:$E$4</c:f>
              <c:numCache>
                <c:formatCode>General</c:formatCode>
                <c:ptCount val="3"/>
                <c:pt idx="0">
                  <c:v>118</c:v>
                </c:pt>
                <c:pt idx="1">
                  <c:v>123</c:v>
                </c:pt>
                <c:pt idx="2">
                  <c:v>126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A793-4504-A528-858286CDA145}"/>
            </c:ext>
          </c:extLst>
        </c:ser>
        <c:ser>
          <c:idx val="4"/>
          <c:order val="4"/>
          <c:tx>
            <c:strRef>
              <c:f>Лист1!$F$1</c:f>
              <c:strCache>
                <c:ptCount val="1"/>
                <c:pt idx="0">
                  <c:v>Мебель</c:v>
                </c:pt>
              </c:strCache>
            </c:strRef>
          </c:tx>
          <c:spPr>
            <a:ln w="28575" cap="rnd">
              <a:solidFill>
                <a:schemeClr val="accent3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>
                  <a:lumMod val="60000"/>
                </a:schemeClr>
              </a:solidFill>
              <a:ln w="9525">
                <a:solidFill>
                  <a:schemeClr val="accent3">
                    <a:lumMod val="60000"/>
                  </a:schemeClr>
                </a:solidFill>
              </a:ln>
              <a:effectLst/>
            </c:spPr>
          </c:marker>
          <c:cat>
            <c:strRef>
              <c:f>Лист1!$A$2:$A$4</c:f>
              <c:strCache>
                <c:ptCount val="3"/>
                <c:pt idx="0">
                  <c:v>2021.00</c:v>
                </c:pt>
                <c:pt idx="1">
                  <c:v>2022.00</c:v>
                </c:pt>
                <c:pt idx="2">
                  <c:v>2023.00</c:v>
                </c:pt>
              </c:strCache>
            </c:strRef>
          </c:cat>
          <c:val>
            <c:numRef>
              <c:f>Лист1!$F$2:$F$4</c:f>
              <c:numCache>
                <c:formatCode>General</c:formatCode>
                <c:ptCount val="3"/>
                <c:pt idx="0">
                  <c:v>200</c:v>
                </c:pt>
                <c:pt idx="1">
                  <c:v>220</c:v>
                </c:pt>
                <c:pt idx="2">
                  <c:v>124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A793-4504-A528-858286CDA145}"/>
            </c:ext>
          </c:extLst>
        </c:ser>
        <c:ser>
          <c:idx val="5"/>
          <c:order val="5"/>
          <c:tx>
            <c:strRef>
              <c:f>Лист1!$G$1</c:f>
              <c:strCache>
                <c:ptCount val="1"/>
                <c:pt idx="0">
                  <c:v>Детская одежда</c:v>
                </c:pt>
              </c:strCache>
            </c:strRef>
          </c:tx>
          <c:spPr>
            <a:ln w="28575" cap="rnd">
              <a:solidFill>
                <a:schemeClr val="accent5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>
                  <a:lumMod val="60000"/>
                </a:schemeClr>
              </a:solidFill>
              <a:ln w="9525">
                <a:solidFill>
                  <a:schemeClr val="accent5">
                    <a:lumMod val="60000"/>
                  </a:schemeClr>
                </a:solidFill>
              </a:ln>
              <a:effectLst/>
            </c:spPr>
          </c:marker>
          <c:cat>
            <c:strRef>
              <c:f>Лист1!$A$2:$A$4</c:f>
              <c:strCache>
                <c:ptCount val="3"/>
                <c:pt idx="0">
                  <c:v>2021.00</c:v>
                </c:pt>
                <c:pt idx="1">
                  <c:v>2022.00</c:v>
                </c:pt>
                <c:pt idx="2">
                  <c:v>2023.00</c:v>
                </c:pt>
              </c:strCache>
            </c:strRef>
          </c:cat>
          <c:val>
            <c:numRef>
              <c:f>Лист1!$G$2:$G$4</c:f>
              <c:numCache>
                <c:formatCode>General</c:formatCode>
                <c:ptCount val="3"/>
                <c:pt idx="0">
                  <c:v>17</c:v>
                </c:pt>
                <c:pt idx="1">
                  <c:v>18</c:v>
                </c:pt>
                <c:pt idx="2">
                  <c:v>17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A793-4504-A528-858286CDA145}"/>
            </c:ext>
          </c:extLst>
        </c:ser>
        <c:ser>
          <c:idx val="6"/>
          <c:order val="6"/>
          <c:tx>
            <c:strRef>
              <c:f>Лист1!$H$1</c:f>
              <c:strCache>
                <c:ptCount val="1"/>
                <c:pt idx="0">
                  <c:v>Детские джинсы и брюки</c:v>
                </c:pt>
              </c:strCache>
            </c:strRef>
          </c:tx>
          <c:spPr>
            <a:ln w="28575" cap="rnd">
              <a:solidFill>
                <a:schemeClr val="accent1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lumMod val="80000"/>
                  <a:lumOff val="20000"/>
                </a:schemeClr>
              </a:solidFill>
              <a:ln w="9525">
                <a:solidFill>
                  <a:schemeClr val="accent1">
                    <a:lumMod val="80000"/>
                    <a:lumOff val="20000"/>
                  </a:schemeClr>
                </a:solidFill>
              </a:ln>
              <a:effectLst/>
            </c:spPr>
          </c:marker>
          <c:cat>
            <c:strRef>
              <c:f>Лист1!$A$2:$A$4</c:f>
              <c:strCache>
                <c:ptCount val="3"/>
                <c:pt idx="0">
                  <c:v>2021.00</c:v>
                </c:pt>
                <c:pt idx="1">
                  <c:v>2022.00</c:v>
                </c:pt>
                <c:pt idx="2">
                  <c:v>2023.00</c:v>
                </c:pt>
              </c:strCache>
            </c:strRef>
          </c:cat>
          <c:val>
            <c:numRef>
              <c:f>Лист1!$H$2:$H$4</c:f>
              <c:numCache>
                <c:formatCode>General</c:formatCode>
                <c:ptCount val="3"/>
                <c:pt idx="0">
                  <c:v>24</c:v>
                </c:pt>
                <c:pt idx="1">
                  <c:v>23</c:v>
                </c:pt>
                <c:pt idx="2">
                  <c:v>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A793-4504-A528-858286CDA145}"/>
            </c:ext>
          </c:extLst>
        </c:ser>
        <c:ser>
          <c:idx val="7"/>
          <c:order val="7"/>
          <c:tx>
            <c:strRef>
              <c:f>Лист1!$I$1</c:f>
              <c:strCache>
                <c:ptCount val="1"/>
                <c:pt idx="0">
                  <c:v>Косметика и добавки</c:v>
                </c:pt>
              </c:strCache>
            </c:strRef>
          </c:tx>
          <c:spPr>
            <a:ln w="28575" cap="rnd">
              <a:solidFill>
                <a:schemeClr val="accent3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>
                  <a:lumMod val="80000"/>
                  <a:lumOff val="20000"/>
                </a:schemeClr>
              </a:solidFill>
              <a:ln w="9525">
                <a:solidFill>
                  <a:schemeClr val="accent3">
                    <a:lumMod val="80000"/>
                    <a:lumOff val="20000"/>
                  </a:schemeClr>
                </a:solidFill>
              </a:ln>
              <a:effectLst/>
            </c:spPr>
          </c:marker>
          <c:cat>
            <c:strRef>
              <c:f>Лист1!$A$2:$A$4</c:f>
              <c:strCache>
                <c:ptCount val="3"/>
                <c:pt idx="0">
                  <c:v>2021.00</c:v>
                </c:pt>
                <c:pt idx="1">
                  <c:v>2022.00</c:v>
                </c:pt>
                <c:pt idx="2">
                  <c:v>2023.00</c:v>
                </c:pt>
              </c:strCache>
            </c:strRef>
          </c:cat>
          <c:val>
            <c:numRef>
              <c:f>Лист1!$I$2:$I$4</c:f>
              <c:numCache>
                <c:formatCode>General</c:formatCode>
                <c:ptCount val="3"/>
                <c:pt idx="0">
                  <c:v>16</c:v>
                </c:pt>
                <c:pt idx="1">
                  <c:v>14</c:v>
                </c:pt>
                <c:pt idx="2">
                  <c:v>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A793-4504-A528-858286CDA145}"/>
            </c:ext>
          </c:extLst>
        </c:ser>
        <c:ser>
          <c:idx val="8"/>
          <c:order val="8"/>
          <c:tx>
            <c:strRef>
              <c:f>Лист1!$J$1</c:f>
              <c:strCache>
                <c:ptCount val="1"/>
                <c:pt idx="0">
                  <c:v>Осветительные приборы</c:v>
                </c:pt>
              </c:strCache>
            </c:strRef>
          </c:tx>
          <c:spPr>
            <a:ln w="28575" cap="rnd">
              <a:solidFill>
                <a:schemeClr val="accent5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>
                  <a:lumMod val="80000"/>
                  <a:lumOff val="20000"/>
                </a:schemeClr>
              </a:solidFill>
              <a:ln w="9525">
                <a:solidFill>
                  <a:schemeClr val="accent5">
                    <a:lumMod val="80000"/>
                    <a:lumOff val="20000"/>
                  </a:schemeClr>
                </a:solidFill>
              </a:ln>
              <a:effectLst/>
            </c:spPr>
          </c:marker>
          <c:cat>
            <c:strRef>
              <c:f>Лист1!$A$2:$A$4</c:f>
              <c:strCache>
                <c:ptCount val="3"/>
                <c:pt idx="0">
                  <c:v>2021.00</c:v>
                </c:pt>
                <c:pt idx="1">
                  <c:v>2022.00</c:v>
                </c:pt>
                <c:pt idx="2">
                  <c:v>2023.00</c:v>
                </c:pt>
              </c:strCache>
            </c:strRef>
          </c:cat>
          <c:val>
            <c:numRef>
              <c:f>Лист1!$J$2:$J$4</c:f>
              <c:numCache>
                <c:formatCode>General</c:formatCode>
                <c:ptCount val="3"/>
                <c:pt idx="0">
                  <c:v>113</c:v>
                </c:pt>
                <c:pt idx="1">
                  <c:v>70</c:v>
                </c:pt>
                <c:pt idx="2">
                  <c:v>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A793-4504-A528-858286CDA145}"/>
            </c:ext>
          </c:extLst>
        </c:ser>
        <c:ser>
          <c:idx val="9"/>
          <c:order val="9"/>
          <c:tx>
            <c:strRef>
              <c:f>Лист1!$K$1</c:f>
              <c:strCache>
                <c:ptCount val="1"/>
                <c:pt idx="0">
                  <c:v>Книги</c:v>
                </c:pt>
              </c:strCache>
            </c:strRef>
          </c:tx>
          <c:spPr>
            <a:ln w="28575" cap="rnd">
              <a:solidFill>
                <a:schemeClr val="accent1">
                  <a:lumMod val="8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lumMod val="80000"/>
                </a:schemeClr>
              </a:solidFill>
              <a:ln w="9525">
                <a:solidFill>
                  <a:schemeClr val="accent1">
                    <a:lumMod val="80000"/>
                  </a:schemeClr>
                </a:solidFill>
              </a:ln>
              <a:effectLst/>
            </c:spPr>
          </c:marker>
          <c:cat>
            <c:strRef>
              <c:f>Лист1!$A$2:$A$4</c:f>
              <c:strCache>
                <c:ptCount val="3"/>
                <c:pt idx="0">
                  <c:v>2021.00</c:v>
                </c:pt>
                <c:pt idx="1">
                  <c:v>2022.00</c:v>
                </c:pt>
                <c:pt idx="2">
                  <c:v>2023.00</c:v>
                </c:pt>
              </c:strCache>
            </c:strRef>
          </c:cat>
          <c:val>
            <c:numRef>
              <c:f>Лист1!$K$2:$K$4</c:f>
              <c:numCache>
                <c:formatCode>General</c:formatCode>
                <c:ptCount val="3"/>
                <c:pt idx="0">
                  <c:v>23</c:v>
                </c:pt>
                <c:pt idx="1">
                  <c:v>23</c:v>
                </c:pt>
                <c:pt idx="2">
                  <c:v>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A793-4504-A528-858286CDA1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13670272"/>
        <c:axId val="413671448"/>
      </c:lineChart>
      <c:catAx>
        <c:axId val="4136702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RU"/>
          </a:p>
        </c:txPr>
        <c:crossAx val="413671448"/>
        <c:crosses val="autoZero"/>
        <c:auto val="1"/>
        <c:lblAlgn val="ctr"/>
        <c:lblOffset val="100"/>
        <c:noMultiLvlLbl val="0"/>
      </c:catAx>
      <c:valAx>
        <c:axId val="413671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136702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.80047309891233842"/>
          <c:w val="0.99763857288711866"/>
          <c:h val="0.1839517964820294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0" i="0" u="none" strike="noStrike" kern="1200" cap="none" spc="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pPr>
            <a:r>
              <a:rPr lang="ru-RU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Сезонность по месяцам 2021-2023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0" i="0" u="none" strike="noStrike" kern="1200" cap="none" spc="50" normalizeH="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chemeClr val="accent5">
                <a:alpha val="70000"/>
              </a:schemeClr>
            </a:solidFill>
            <a:ln>
              <a:noFill/>
            </a:ln>
            <a:effectLst/>
          </c:spPr>
          <c:invertIfNegative val="0"/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Лист1!$B$2:$B$13</c:f>
              <c:numCache>
                <c:formatCode>General</c:formatCode>
                <c:ptCount val="12"/>
                <c:pt idx="0">
                  <c:v>100</c:v>
                </c:pt>
                <c:pt idx="1">
                  <c:v>105</c:v>
                </c:pt>
                <c:pt idx="2">
                  <c:v>92</c:v>
                </c:pt>
                <c:pt idx="3">
                  <c:v>107</c:v>
                </c:pt>
                <c:pt idx="4">
                  <c:v>96</c:v>
                </c:pt>
                <c:pt idx="5">
                  <c:v>103</c:v>
                </c:pt>
                <c:pt idx="6">
                  <c:v>94</c:v>
                </c:pt>
                <c:pt idx="7">
                  <c:v>102</c:v>
                </c:pt>
                <c:pt idx="8">
                  <c:v>118</c:v>
                </c:pt>
                <c:pt idx="9">
                  <c:v>115</c:v>
                </c:pt>
                <c:pt idx="10">
                  <c:v>93</c:v>
                </c:pt>
                <c:pt idx="11">
                  <c:v>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13B-4556-882E-E939CF5FB5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overlap val="-25"/>
        <c:axId val="413668312"/>
        <c:axId val="413669880"/>
      </c:barChart>
      <c:catAx>
        <c:axId val="4136683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587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none" spc="20" normalizeH="0" baseline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RU"/>
          </a:p>
        </c:txPr>
        <c:crossAx val="413669880"/>
        <c:crosses val="autoZero"/>
        <c:auto val="1"/>
        <c:lblAlgn val="ctr"/>
        <c:lblOffset val="100"/>
        <c:noMultiLvlLbl val="0"/>
      </c:catAx>
      <c:valAx>
        <c:axId val="4136698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RU"/>
          </a:p>
        </c:txPr>
        <c:crossAx val="4136683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ru-RU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Топ-10 категорий по волатильности (коэффициент вариации %)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bg2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Коэфициент вариации %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Лист1!$A$2:$A$11</c:f>
              <c:strCache>
                <c:ptCount val="10"/>
                <c:pt idx="0">
                  <c:v>дополнительное оборудование</c:v>
                </c:pt>
                <c:pt idx="1">
                  <c:v>Надувные бассейны</c:v>
                </c:pt>
                <c:pt idx="2">
                  <c:v>петли к крючи</c:v>
                </c:pt>
                <c:pt idx="3">
                  <c:v>Одеяла</c:v>
                </c:pt>
                <c:pt idx="4">
                  <c:v>Садовые материалы</c:v>
                </c:pt>
                <c:pt idx="5">
                  <c:v>Заборы</c:v>
                </c:pt>
                <c:pt idx="6">
                  <c:v>Мужская спортивная одежда</c:v>
                </c:pt>
                <c:pt idx="7">
                  <c:v>Источнки бесперебойного питания</c:v>
                </c:pt>
                <c:pt idx="8">
                  <c:v>птичьи клетки</c:v>
                </c:pt>
                <c:pt idx="9">
                  <c:v>Подушки</c:v>
                </c:pt>
              </c:strCache>
            </c:strRef>
          </c:cat>
          <c:val>
            <c:numRef>
              <c:f>Лист1!$B$2:$B$11</c:f>
              <c:numCache>
                <c:formatCode>General</c:formatCode>
                <c:ptCount val="10"/>
                <c:pt idx="0">
                  <c:v>219</c:v>
                </c:pt>
                <c:pt idx="1">
                  <c:v>230</c:v>
                </c:pt>
                <c:pt idx="2">
                  <c:v>231</c:v>
                </c:pt>
                <c:pt idx="3">
                  <c:v>243</c:v>
                </c:pt>
                <c:pt idx="4">
                  <c:v>246</c:v>
                </c:pt>
                <c:pt idx="5">
                  <c:v>247</c:v>
                </c:pt>
                <c:pt idx="6">
                  <c:v>258</c:v>
                </c:pt>
                <c:pt idx="7">
                  <c:v>267</c:v>
                </c:pt>
                <c:pt idx="8">
                  <c:v>285</c:v>
                </c:pt>
                <c:pt idx="9">
                  <c:v>381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7C-4F8E-83DB-B14213FF71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413670664"/>
        <c:axId val="413669096"/>
      </c:barChart>
      <c:catAx>
        <c:axId val="41367066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RU"/>
          </a:p>
        </c:txPr>
        <c:crossAx val="413669096"/>
        <c:crosses val="autoZero"/>
        <c:auto val="1"/>
        <c:lblAlgn val="ctr"/>
        <c:lblOffset val="100"/>
        <c:noMultiLvlLbl val="0"/>
      </c:catAx>
      <c:valAx>
        <c:axId val="41366909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RU"/>
          </a:p>
        </c:txPr>
        <c:crossAx val="4136706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Среднее цены за месяц</a:t>
            </a:r>
            <a:r>
              <a:rPr lang="en-US" baseline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aseline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 2021 по 2023 </a:t>
            </a:r>
            <a:r>
              <a:rPr lang="ru-RU" baseline="0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г.г</a:t>
            </a:r>
            <a:r>
              <a:rPr lang="ru-RU" baseline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., в евро</a:t>
            </a:r>
            <a:endParaRPr lang="ru-RU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Лист1!$A$2:$A$27</c:f>
              <c:strCache>
                <c:ptCount val="25"/>
                <c:pt idx="0">
                  <c:v>2021-04</c:v>
                </c:pt>
                <c:pt idx="1">
                  <c:v>2021-05</c:v>
                </c:pt>
                <c:pt idx="2">
                  <c:v>2021-06</c:v>
                </c:pt>
                <c:pt idx="3">
                  <c:v>2021-07</c:v>
                </c:pt>
                <c:pt idx="4">
                  <c:v>2021-08</c:v>
                </c:pt>
                <c:pt idx="5">
                  <c:v>2021-09</c:v>
                </c:pt>
                <c:pt idx="6">
                  <c:v>2021-10</c:v>
                </c:pt>
                <c:pt idx="7">
                  <c:v>2021-11</c:v>
                </c:pt>
                <c:pt idx="8">
                  <c:v>2021-12</c:v>
                </c:pt>
                <c:pt idx="9">
                  <c:v>2022-01</c:v>
                </c:pt>
                <c:pt idx="10">
                  <c:v>2022-02</c:v>
                </c:pt>
                <c:pt idx="11">
                  <c:v>2022-03</c:v>
                </c:pt>
                <c:pt idx="12">
                  <c:v>2022-04</c:v>
                </c:pt>
                <c:pt idx="13">
                  <c:v>2022-05</c:v>
                </c:pt>
                <c:pt idx="14">
                  <c:v>2022-06</c:v>
                </c:pt>
                <c:pt idx="15">
                  <c:v>2022-07</c:v>
                </c:pt>
                <c:pt idx="16">
                  <c:v>2022-08</c:v>
                </c:pt>
                <c:pt idx="17">
                  <c:v>2022-09</c:v>
                </c:pt>
                <c:pt idx="18">
                  <c:v>2022-10</c:v>
                </c:pt>
                <c:pt idx="19">
                  <c:v>2022-11</c:v>
                </c:pt>
                <c:pt idx="20">
                  <c:v>2022-12</c:v>
                </c:pt>
                <c:pt idx="21">
                  <c:v>2023-01</c:v>
                </c:pt>
                <c:pt idx="22">
                  <c:v>2023-02</c:v>
                </c:pt>
                <c:pt idx="23">
                  <c:v>2023-03</c:v>
                </c:pt>
                <c:pt idx="24">
                  <c:v>2023-04</c:v>
                </c:pt>
              </c:strCache>
            </c:strRef>
          </c:cat>
          <c:val>
            <c:numRef>
              <c:f>Лист1!$B$2:$B$27</c:f>
              <c:numCache>
                <c:formatCode>General</c:formatCode>
                <c:ptCount val="26"/>
                <c:pt idx="0">
                  <c:v>117</c:v>
                </c:pt>
                <c:pt idx="1">
                  <c:v>92</c:v>
                </c:pt>
                <c:pt idx="2">
                  <c:v>90</c:v>
                </c:pt>
                <c:pt idx="3">
                  <c:v>91</c:v>
                </c:pt>
                <c:pt idx="4">
                  <c:v>118</c:v>
                </c:pt>
                <c:pt idx="5">
                  <c:v>136</c:v>
                </c:pt>
                <c:pt idx="6">
                  <c:v>128</c:v>
                </c:pt>
                <c:pt idx="7">
                  <c:v>103</c:v>
                </c:pt>
                <c:pt idx="8">
                  <c:v>90</c:v>
                </c:pt>
                <c:pt idx="9">
                  <c:v>103</c:v>
                </c:pt>
                <c:pt idx="10">
                  <c:v>132</c:v>
                </c:pt>
                <c:pt idx="11">
                  <c:v>108</c:v>
                </c:pt>
                <c:pt idx="12">
                  <c:v>107</c:v>
                </c:pt>
                <c:pt idx="13">
                  <c:v>114</c:v>
                </c:pt>
                <c:pt idx="14">
                  <c:v>117</c:v>
                </c:pt>
                <c:pt idx="15">
                  <c:v>98</c:v>
                </c:pt>
                <c:pt idx="16">
                  <c:v>94</c:v>
                </c:pt>
                <c:pt idx="17">
                  <c:v>108</c:v>
                </c:pt>
                <c:pt idx="18">
                  <c:v>96</c:v>
                </c:pt>
                <c:pt idx="19">
                  <c:v>87</c:v>
                </c:pt>
                <c:pt idx="20">
                  <c:v>82</c:v>
                </c:pt>
                <c:pt idx="21">
                  <c:v>92</c:v>
                </c:pt>
                <c:pt idx="22">
                  <c:v>85</c:v>
                </c:pt>
                <c:pt idx="23">
                  <c:v>75</c:v>
                </c:pt>
                <c:pt idx="24">
                  <c:v>113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994-43AF-8257-141041AB3A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05257856"/>
        <c:axId val="505254720"/>
      </c:lineChart>
      <c:catAx>
        <c:axId val="5052578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RU"/>
          </a:p>
        </c:txPr>
        <c:crossAx val="505254720"/>
        <c:crosses val="autoZero"/>
        <c:auto val="1"/>
        <c:lblAlgn val="ctr"/>
        <c:lblOffset val="100"/>
        <c:noMultiLvlLbl val="0"/>
      </c:catAx>
      <c:valAx>
        <c:axId val="5052547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bg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RU"/>
          </a:p>
        </c:txPr>
        <c:crossAx val="5052578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0" i="0" u="none" strike="noStrike" kern="1200" cap="none" spc="0" normalizeH="0" baseline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pPr>
            <a:r>
              <a:rPr lang="ru-RU" dirty="0"/>
              <a:t> </a:t>
            </a:r>
            <a:r>
              <a:rPr lang="ru-RU" sz="1900" dirty="0"/>
              <a:t>Медианные цены по топ-10 брендам</a:t>
            </a:r>
            <a:r>
              <a:rPr lang="ru-RU" sz="1900" baseline="0" dirty="0"/>
              <a:t> в евро за 20201-2023 </a:t>
            </a:r>
            <a:r>
              <a:rPr lang="ru-RU" sz="1900" baseline="0" dirty="0" err="1"/>
              <a:t>г.г</a:t>
            </a:r>
            <a:r>
              <a:rPr lang="ru-RU" sz="1900" baseline="0" dirty="0"/>
              <a:t>.</a:t>
            </a:r>
            <a:endParaRPr lang="ru-RU" sz="19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cap="none" spc="0" normalizeH="0" baseline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15750621100420001"/>
          <c:y val="0.16480354599488933"/>
          <c:w val="0.80655250827459513"/>
          <c:h val="0.7015512562421759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 Медианные цены по топ-10 брендам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D71-4D1E-90D8-71740FB0872B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D71-4D1E-90D8-71740FB0872B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0D71-4D1E-90D8-71740FB0872B}"/>
              </c:ext>
            </c:extLst>
          </c:dPt>
          <c:dPt>
            <c:idx val="3"/>
            <c:invertIfNegative val="0"/>
            <c:bubble3D val="0"/>
            <c:spPr>
              <a:solidFill>
                <a:srgbClr val="FFFF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0D71-4D1E-90D8-71740FB0872B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0D71-4D1E-90D8-71740FB0872B}"/>
              </c:ext>
            </c:extLst>
          </c:dPt>
          <c:dPt>
            <c:idx val="5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0D71-4D1E-90D8-71740FB0872B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2">
                  <a:lumMod val="50000"/>
                </a:schemeClr>
              </a:solidFill>
              <a:ln>
                <a:solidFill>
                  <a:schemeClr val="accent2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0D71-4D1E-90D8-71740FB0872B}"/>
              </c:ext>
            </c:extLst>
          </c:dPt>
          <c:dPt>
            <c:idx val="7"/>
            <c:invertIfNegative val="0"/>
            <c:bubble3D val="0"/>
            <c:spPr>
              <a:solidFill>
                <a:schemeClr val="tx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0D71-4D1E-90D8-71740FB0872B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0D71-4D1E-90D8-71740FB0872B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5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0D71-4D1E-90D8-71740FB0872B}"/>
              </c:ext>
            </c:extLst>
          </c:dPt>
          <c:cat>
            <c:strRef>
              <c:f>Лист1!$A$2:$A$16</c:f>
              <c:strCache>
                <c:ptCount val="10"/>
                <c:pt idx="0">
                  <c:v>Lisca</c:v>
                </c:pt>
                <c:pt idx="1">
                  <c:v>Gap</c:v>
                </c:pt>
                <c:pt idx="2">
                  <c:v>Dstreet</c:v>
                </c:pt>
                <c:pt idx="3">
                  <c:v>Eurofirany</c:v>
                </c:pt>
                <c:pt idx="4">
                  <c:v>Under Armour</c:v>
                </c:pt>
                <c:pt idx="5">
                  <c:v>tulup.si</c:v>
                </c:pt>
                <c:pt idx="6">
                  <c:v>Nike</c:v>
                </c:pt>
                <c:pt idx="7">
                  <c:v>Adidas</c:v>
                </c:pt>
                <c:pt idx="8">
                  <c:v>Vidaxl</c:v>
                </c:pt>
                <c:pt idx="9">
                  <c:v>shumee</c:v>
                </c:pt>
              </c:strCache>
            </c:strRef>
          </c:cat>
          <c:val>
            <c:numRef>
              <c:f>Лист1!$B$2:$B$16</c:f>
              <c:numCache>
                <c:formatCode>General</c:formatCode>
                <c:ptCount val="15"/>
                <c:pt idx="0">
                  <c:v>17</c:v>
                </c:pt>
                <c:pt idx="1">
                  <c:v>23</c:v>
                </c:pt>
                <c:pt idx="2">
                  <c:v>24</c:v>
                </c:pt>
                <c:pt idx="3">
                  <c:v>43</c:v>
                </c:pt>
                <c:pt idx="4">
                  <c:v>47</c:v>
                </c:pt>
                <c:pt idx="5">
                  <c:v>57</c:v>
                </c:pt>
                <c:pt idx="6">
                  <c:v>68</c:v>
                </c:pt>
                <c:pt idx="7">
                  <c:v>113</c:v>
                </c:pt>
                <c:pt idx="8">
                  <c:v>123</c:v>
                </c:pt>
                <c:pt idx="9">
                  <c:v>127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0D71-4D1E-90D8-71740FB087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05260600"/>
        <c:axId val="505260992"/>
      </c:barChart>
      <c:catAx>
        <c:axId val="50526060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none" spc="0" normalizeH="0" baseline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RU"/>
          </a:p>
        </c:txPr>
        <c:crossAx val="505260992"/>
        <c:crosses val="autoZero"/>
        <c:auto val="1"/>
        <c:lblAlgn val="ctr"/>
        <c:lblOffset val="100"/>
        <c:noMultiLvlLbl val="0"/>
      </c:catAx>
      <c:valAx>
        <c:axId val="5052609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RU"/>
          </a:p>
        </c:txPr>
        <c:crossAx val="5052606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withinLinearReversed" id="21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587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 cap="none" spc="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>
            <a:alpha val="70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 baseline="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128" b="0" i="0" kern="1200" cap="none" spc="5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587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30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b="0" kern="1200" cap="none" spc="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dk1">
          <a:lumMod val="15000"/>
          <a:lumOff val="85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810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8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200" b="0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le slide" type="title" userDrawn="1">
  <p:cSld name="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 bwMode="auto"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1" name="Google Shape;11;p2"/>
          <p:cNvSpPr/>
          <p:nvPr/>
        </p:nvSpPr>
        <p:spPr bwMode="auto"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 bwMode="auto"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pPr>
              <a:defRPr/>
            </a:pP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 bwMode="auto"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 bwMode="auto"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le and body" type="tx" userDrawn="1">
  <p:cSld name="TITLE_AND_BOD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 bwMode="auto"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0" name="Google Shape;20;p4"/>
          <p:cNvSpPr/>
          <p:nvPr/>
        </p:nvSpPr>
        <p:spPr bwMode="auto"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 bwMode="auto">
          <a:xfrm>
            <a:off x="471899" y="738724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 bwMode="auto">
          <a:xfrm>
            <a:off x="471899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 bwMode="auto"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le and two columns" type="twoColTx" userDrawn="1">
  <p:cSld name="TITLE_AND_TWO_COLUMN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 bwMode="auto"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6" name="Google Shape;26;p5"/>
          <p:cNvSpPr/>
          <p:nvPr/>
        </p:nvSpPr>
        <p:spPr bwMode="auto"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 bwMode="auto">
          <a:xfrm>
            <a:off x="471899" y="738724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 bwMode="auto">
          <a:xfrm>
            <a:off x="471899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 bwMode="auto">
          <a:xfrm>
            <a:off x="469425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 bwMode="auto"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le only" type="titleOnly" userDrawn="1">
  <p:cSld name="TITLE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 bwMode="auto">
          <a:xfrm rot="10800000" flipH="1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33" name="Google Shape;33;p6"/>
          <p:cNvSpPr/>
          <p:nvPr/>
        </p:nvSpPr>
        <p:spPr bwMode="auto"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 bwMode="auto"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 bwMode="auto"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One column text" userDrawn="1">
  <p:cSld name="ONE_COLUM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 bwMode="auto">
          <a:xfrm rot="10800000" flipH="1">
            <a:off x="3276600" y="25"/>
            <a:ext cx="5867399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38" name="Google Shape;38;p7"/>
          <p:cNvSpPr/>
          <p:nvPr/>
        </p:nvSpPr>
        <p:spPr bwMode="auto">
          <a:xfrm rot="-5400000">
            <a:off x="759150" y="2517449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 bwMode="auto">
          <a:xfrm>
            <a:off x="226078" y="357800"/>
            <a:ext cx="2808000" cy="95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pPr>
              <a:defRPr/>
            </a:pPr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 bwMode="auto">
          <a:xfrm>
            <a:off x="226075" y="1465800"/>
            <a:ext cx="2808000" cy="31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 bwMode="auto"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Main point" userDrawn="1">
  <p:cSld name="MAIN_POI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 bwMode="auto">
          <a:xfrm>
            <a:off x="490250" y="4882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pPr>
              <a:defRPr/>
            </a:pPr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 bwMode="auto"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Section title and description" userDrawn="1">
  <p:cSld name="SECTION_TITLE_AND_DESCRI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 bwMode="auto"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47" name="Google Shape;47;p9"/>
          <p:cNvSpPr/>
          <p:nvPr/>
        </p:nvSpPr>
        <p:spPr bwMode="auto">
          <a:xfrm rot="5400000">
            <a:off x="1946425" y="2517750"/>
            <a:ext cx="5142899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 bwMode="auto">
          <a:xfrm>
            <a:off x="265500" y="1233175"/>
            <a:ext cx="4045199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 bwMode="auto">
          <a:xfrm>
            <a:off x="265500" y="2779466"/>
            <a:ext cx="4045199" cy="12350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pPr>
              <a:defRPr/>
            </a:pPr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 bwMode="auto"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 bwMode="auto"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Caption" userDrawn="1">
  <p:cSld name="CAPTION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 bwMode="auto">
          <a:xfrm rot="10800000" flipH="1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54" name="Google Shape;54;p10"/>
          <p:cNvSpPr/>
          <p:nvPr/>
        </p:nvSpPr>
        <p:spPr bwMode="auto">
          <a:xfrm rot="10800000" flipH="1">
            <a:off x="0" y="4622725"/>
            <a:ext cx="9144000" cy="74099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1"/>
          </p:nvPr>
        </p:nvSpPr>
        <p:spPr bwMode="auto">
          <a:xfrm>
            <a:off x="57150" y="4696825"/>
            <a:ext cx="8382000" cy="4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sldNum" idx="12"/>
          </p:nvPr>
        </p:nvSpPr>
        <p:spPr bwMode="auto"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Big number" userDrawn="1">
  <p:cSld name="BIG_NUMB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>
            <a:spLocks noGrp="1"/>
          </p:cNvSpPr>
          <p:nvPr>
            <p:ph type="title" hasCustomPrompt="1"/>
          </p:nvPr>
        </p:nvSpPr>
        <p:spPr bwMode="auto">
          <a:xfrm>
            <a:off x="475500" y="1258525"/>
            <a:ext cx="82221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pPr>
              <a:defRPr/>
            </a:pPr>
            <a:r>
              <a:t>xx%</a:t>
            </a:r>
          </a:p>
        </p:txBody>
      </p:sp>
      <p:sp>
        <p:nvSpPr>
          <p:cNvPr id="59" name="Google Shape;59;p11"/>
          <p:cNvSpPr txBox="1">
            <a:spLocks noGrp="1"/>
          </p:cNvSpPr>
          <p:nvPr>
            <p:ph type="body" idx="1"/>
          </p:nvPr>
        </p:nvSpPr>
        <p:spPr bwMode="auto">
          <a:xfrm>
            <a:off x="475500" y="3304625"/>
            <a:ext cx="82221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 bwMode="auto"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Blank" type="blank" userDrawn="1">
  <p:cSld name="BLANK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sldNum" idx="12"/>
          </p:nvPr>
        </p:nvSpPr>
        <p:spPr bwMode="auto"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erial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 bwMode="auto">
          <a:xfrm>
            <a:off x="471899" y="738724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 bwMode="auto">
          <a:xfrm>
            <a:off x="471899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1pPr>
            <a:lvl2pPr marL="914400" lvl="1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2pPr>
            <a:lvl3pPr marL="1371600" lvl="2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3pPr>
            <a:lvl4pPr marL="1828800" lvl="3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4pPr>
            <a:lvl5pPr marL="2286000" lvl="4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5pPr>
            <a:lvl6pPr marL="2743200" lvl="5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6pPr>
            <a:lvl7pPr marL="3200400" lvl="6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7pPr>
            <a:lvl8pPr marL="3657600" lvl="7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8pPr>
            <a:lvl9pPr marL="4114800" lvl="8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 bwMode="auto"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hdr="0" ftr="0" dt="0"/>
  <p:txStyles>
    <p:title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hyperlink" Target="https://archive.zip/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hyperlink" Target="https://habr.com/ru/sandbox/285760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>
            <a:spLocks noGrp="1"/>
          </p:cNvSpPr>
          <p:nvPr>
            <p:ph type="ctrTitle"/>
          </p:nvPr>
        </p:nvSpPr>
        <p:spPr bwMode="auto">
          <a:xfrm>
            <a:off x="460950" y="1340600"/>
            <a:ext cx="8222100" cy="141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>
              <a:buSzPts val="990"/>
              <a:defRPr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динамики цен и структуры ассортимента товаров интернет-магазина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Mimovrste</a:t>
            </a:r>
            <a:endParaRPr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Google Shape;70;p13"/>
          <p:cNvSpPr txBox="1"/>
          <p:nvPr/>
        </p:nvSpPr>
        <p:spPr bwMode="auto">
          <a:xfrm>
            <a:off x="460950" y="3025850"/>
            <a:ext cx="2666150" cy="1665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1800" dirty="0">
                <a:solidFill>
                  <a:schemeClr val="bg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Студенты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:</a:t>
            </a:r>
            <a:b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</a:br>
            <a:r>
              <a:rPr lang="ru-RU" sz="1800" dirty="0" err="1">
                <a:solidFill>
                  <a:schemeClr val="bg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Белаш</a:t>
            </a:r>
            <a:r>
              <a:rPr lang="ru-RU" sz="1800" dirty="0">
                <a:solidFill>
                  <a:schemeClr val="bg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 Андрей</a:t>
            </a:r>
            <a:endParaRPr sz="1800" dirty="0">
              <a:solidFill>
                <a:schemeClr val="bg1"/>
              </a:solidFill>
              <a:latin typeface="Times New Roman" panose="02020603050405020304" pitchFamily="18" charset="0"/>
              <a:ea typeface="Roboto"/>
              <a:cs typeface="Times New Roman" panose="02020603050405020304" pitchFamily="18" charset="0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800" dirty="0">
                <a:solidFill>
                  <a:schemeClr val="bg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Опанович Александр</a:t>
            </a:r>
            <a:endParaRPr sz="1800" dirty="0">
              <a:solidFill>
                <a:schemeClr val="bg1"/>
              </a:solidFill>
              <a:latin typeface="Times New Roman" panose="02020603050405020304" pitchFamily="18" charset="0"/>
              <a:ea typeface="Roboto"/>
              <a:cs typeface="Times New Roman" panose="02020603050405020304" pitchFamily="18" charset="0"/>
            </a:endParaRPr>
          </a:p>
          <a:p>
            <a:pPr lvl="0">
              <a:defRPr/>
            </a:pPr>
            <a:r>
              <a:rPr lang="ru" sz="1800" dirty="0">
                <a:solidFill>
                  <a:schemeClr val="bg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Полтанов Евгений</a:t>
            </a:r>
            <a:b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</a:br>
            <a:r>
              <a:rPr lang="ru-RU" sz="1800" dirty="0">
                <a:solidFill>
                  <a:schemeClr val="bg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Группа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: </a:t>
            </a:r>
            <a:r>
              <a:rPr lang="ru-RU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3740105/50101</a:t>
            </a:r>
            <a:endParaRPr sz="1800" dirty="0">
              <a:solidFill>
                <a:schemeClr val="bg1"/>
              </a:solidFill>
              <a:latin typeface="Times New Roman" panose="02020603050405020304" pitchFamily="18" charset="0"/>
              <a:ea typeface="Roboto"/>
              <a:cs typeface="Times New Roman" panose="02020603050405020304" pitchFamily="18" charset="0"/>
            </a:endParaRPr>
          </a:p>
        </p:txBody>
      </p:sp>
      <p:sp>
        <p:nvSpPr>
          <p:cNvPr id="71" name="Google Shape;71;p13"/>
          <p:cNvSpPr txBox="1"/>
          <p:nvPr/>
        </p:nvSpPr>
        <p:spPr bwMode="auto">
          <a:xfrm>
            <a:off x="3764250" y="4691500"/>
            <a:ext cx="1615500" cy="35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800" dirty="0">
                <a:solidFill>
                  <a:schemeClr val="lt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202</a:t>
            </a:r>
            <a:r>
              <a:rPr lang="en-US" sz="1800" dirty="0">
                <a:solidFill>
                  <a:schemeClr val="lt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6</a:t>
            </a:r>
            <a:r>
              <a:rPr lang="ru" sz="1800" dirty="0">
                <a:solidFill>
                  <a:schemeClr val="lt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 год</a:t>
            </a:r>
            <a:endParaRPr sz="1800" dirty="0">
              <a:solidFill>
                <a:schemeClr val="lt1"/>
              </a:solidFill>
              <a:latin typeface="Times New Roman" panose="02020603050405020304" pitchFamily="18" charset="0"/>
              <a:ea typeface="Roboto"/>
              <a:cs typeface="Times New Roman" panose="02020603050405020304" pitchFamily="18" charset="0"/>
            </a:endParaRPr>
          </a:p>
        </p:txBody>
      </p:sp>
      <p:sp>
        <p:nvSpPr>
          <p:cNvPr id="72" name="Google Shape;72;p13"/>
          <p:cNvSpPr txBox="1"/>
          <p:nvPr/>
        </p:nvSpPr>
        <p:spPr bwMode="auto">
          <a:xfrm>
            <a:off x="1261050" y="243800"/>
            <a:ext cx="7094280" cy="10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2000" dirty="0">
                <a:solidFill>
                  <a:schemeClr val="lt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Министерство образования и науки Российской Федерации​</a:t>
            </a:r>
            <a:endParaRPr sz="2000" dirty="0">
              <a:solidFill>
                <a:schemeClr val="lt1"/>
              </a:solidFill>
              <a:latin typeface="Times New Roman" panose="02020603050405020304" pitchFamily="18" charset="0"/>
              <a:ea typeface="Roboto"/>
              <a:cs typeface="Times New Roman" panose="02020603050405020304" pitchFamily="18" charset="0"/>
            </a:endParaRPr>
          </a:p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2000" dirty="0">
                <a:solidFill>
                  <a:schemeClr val="lt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Санкт-Петербургский политехнический университет Петра Великого</a:t>
            </a:r>
            <a:r>
              <a:rPr lang="ru" sz="1600" dirty="0">
                <a:solidFill>
                  <a:schemeClr val="lt1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​</a:t>
            </a:r>
            <a:br>
              <a:rPr lang="ru" dirty="0">
                <a:solidFill>
                  <a:schemeClr val="lt1"/>
                </a:solidFill>
                <a:latin typeface="Roboto"/>
                <a:ea typeface="Roboto"/>
                <a:cs typeface="Roboto"/>
              </a:rPr>
            </a:br>
            <a:endParaRPr dirty="0"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Mimovrste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Локальный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маркетплейс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99060"/>
            <a:ext cx="7176309" cy="3244290"/>
          </a:xfrm>
          <a:prstGeom prst="rect">
            <a:avLst/>
          </a:prstGeom>
        </p:spPr>
      </p:pic>
      <p:sp>
        <p:nvSpPr>
          <p:cNvPr id="6" name="Google Shape;105;p17"/>
          <p:cNvSpPr txBox="1"/>
          <p:nvPr/>
        </p:nvSpPr>
        <p:spPr bwMode="auto">
          <a:xfrm>
            <a:off x="98250" y="3863340"/>
            <a:ext cx="7078059" cy="1225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defRPr/>
            </a:pP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Mimovrste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это крупный онлайн-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ритейлер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(интернет-магазин), который работает в Центральной и Восточной Европе. Изначально компания появилась в Словении, но со временем расширилась и стала частью более крупной региональной e-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commerce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экосистемы.</a:t>
            </a:r>
            <a:endParaRPr sz="1800" dirty="0">
              <a:solidFill>
                <a:schemeClr val="lt2"/>
              </a:solidFill>
              <a:latin typeface="Times New Roman" panose="02020603050405020304" pitchFamily="18" charset="0"/>
              <a:ea typeface="Roboto"/>
              <a:cs typeface="Times New Roman" panose="02020603050405020304" pitchFamily="18" charset="0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600" dirty="0">
              <a:solidFill>
                <a:schemeClr val="lt2"/>
              </a:solidFill>
              <a:latin typeface="Roboto"/>
              <a:ea typeface="Roboto"/>
              <a:cs typeface="Roboto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600" dirty="0">
              <a:solidFill>
                <a:schemeClr val="lt2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8" name="Google Shape;105;p17"/>
          <p:cNvSpPr txBox="1"/>
          <p:nvPr/>
        </p:nvSpPr>
        <p:spPr bwMode="auto">
          <a:xfrm>
            <a:off x="7176309" y="699061"/>
            <a:ext cx="1967691" cy="3164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defRPr/>
            </a:pPr>
            <a:r>
              <a:rPr lang="ru-RU" sz="18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Годовой оборот –</a:t>
            </a:r>
            <a:br>
              <a:rPr lang="ru-RU" sz="18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</a:br>
            <a:r>
              <a:rPr lang="ru-RU" sz="18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порядка </a:t>
            </a:r>
            <a:r>
              <a:rPr lang="ru-RU" sz="18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€100 млн</a:t>
            </a:r>
            <a:br>
              <a:rPr lang="ru-RU" sz="18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Покупателей в год – 600 тысяч</a:t>
            </a:r>
          </a:p>
          <a:p>
            <a:pPr lvl="0">
              <a:defRPr/>
            </a:pPr>
            <a:r>
              <a:rPr lang="ru-RU" sz="18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Около 2 млн товарных позиций на данный момент</a:t>
            </a:r>
            <a:endParaRPr sz="1800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ea typeface="Roboto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207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 smtClean="0"/>
              <a:t>3</a:t>
            </a:fld>
            <a:endParaRPr lang="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869" y="10427"/>
            <a:ext cx="8533022" cy="5133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484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 smtClean="0"/>
              <a:t>4</a:t>
            </a:fld>
            <a:endParaRPr lang="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322" y="0"/>
            <a:ext cx="837335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665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Аналоги</a:t>
            </a:r>
          </a:p>
        </p:txBody>
      </p:sp>
      <p:sp>
        <p:nvSpPr>
          <p:cNvPr id="5" name="Google Shape;105;p17"/>
          <p:cNvSpPr txBox="1"/>
          <p:nvPr/>
        </p:nvSpPr>
        <p:spPr bwMode="auto">
          <a:xfrm>
            <a:off x="0" y="619050"/>
            <a:ext cx="9144000" cy="2627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numCol="3" anchor="t" anchorCtr="0">
            <a:noAutofit/>
          </a:bodyPr>
          <a:lstStyle/>
          <a:p>
            <a:pPr marL="342900" lvl="0" indent="-342900">
              <a:buFont typeface="+mj-lt"/>
              <a:buAutoNum type="arabicPeriod"/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Caro, Felipe and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Gallien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Динамическое управление ассортиментом для сезонных товаров с обучением спроса по ходу сезона; баланс между экспериментами и максимизацией продаж.</a:t>
            </a:r>
            <a:b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  <a:defRPr/>
            </a:pPr>
            <a:endParaRPr lang="en-US" sz="1800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  <a:defRPr/>
            </a:pPr>
            <a:endParaRPr lang="en-US" sz="1800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  <a:defRPr/>
            </a:pPr>
            <a:r>
              <a:rPr lang="en-US" sz="18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Vishal Gaur, Nikolay </a:t>
            </a:r>
            <a:r>
              <a:rPr lang="en-US" sz="1800" dirty="0" err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Osadchiy</a:t>
            </a:r>
            <a:r>
              <a:rPr lang="en-US" sz="18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US" sz="18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Исследование волатильности спроса и цен; оптимальные стратегии закупок при неопределённости.</a:t>
            </a:r>
            <a:b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  <a:defRPr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  <a:defRPr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  <a:defRPr/>
            </a:pPr>
            <a:r>
              <a:rPr lang="it-I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Santiago Gallino, Nil Karacaoglu and Antonio Moreno:</a:t>
            </a:r>
            <a:br>
              <a:rPr lang="it-IT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алгоритмов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маркетплейса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buybox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влияние на спрос, конкуренцию и распределение продаж между продавцами.</a:t>
            </a:r>
            <a:endParaRPr sz="1800" dirty="0">
              <a:solidFill>
                <a:schemeClr val="lt2"/>
              </a:solidFill>
              <a:latin typeface="Times New Roman" panose="02020603050405020304" pitchFamily="18" charset="0"/>
              <a:ea typeface="Roboto"/>
              <a:cs typeface="Times New Roman" panose="02020603050405020304" pitchFamily="18" charset="0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dirty="0">
              <a:solidFill>
                <a:schemeClr val="lt2"/>
              </a:solidFill>
              <a:latin typeface="Times New Roman" panose="02020603050405020304" pitchFamily="18" charset="0"/>
              <a:ea typeface="Roboto"/>
              <a:cs typeface="Times New Roman" panose="02020603050405020304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30404" y="3150545"/>
            <a:ext cx="1832651" cy="1884906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0778" y="3098260"/>
            <a:ext cx="1972025" cy="194237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0053" y="3150545"/>
            <a:ext cx="1906697" cy="1884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837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>
            <a:spLocks noGrp="1"/>
          </p:cNvSpPr>
          <p:nvPr>
            <p:ph type="title"/>
          </p:nvPr>
        </p:nvSpPr>
        <p:spPr bwMode="auto"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этапы анализа</a:t>
            </a:r>
          </a:p>
        </p:txBody>
      </p:sp>
      <p:sp>
        <p:nvSpPr>
          <p:cNvPr id="105" name="Google Shape;105;p17"/>
          <p:cNvSpPr txBox="1"/>
          <p:nvPr/>
        </p:nvSpPr>
        <p:spPr bwMode="auto">
          <a:xfrm>
            <a:off x="290224" y="1407886"/>
            <a:ext cx="8053675" cy="3458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+mj-lt"/>
              <a:buAutoNum type="arabicPeriod"/>
            </a:pPr>
            <a:r>
              <a:rPr lang="ru-RU" sz="20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Получение доступа к данным через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Сбор первичных данных </a:t>
            </a:r>
          </a:p>
          <a:p>
            <a:pPr>
              <a:buFont typeface="+mj-lt"/>
              <a:buAutoNum type="arabicPeriod"/>
            </a:pPr>
            <a:r>
              <a:rPr lang="ru-RU" sz="20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Обработка полученных данных</a:t>
            </a:r>
          </a:p>
          <a:p>
            <a:pPr>
              <a:buFont typeface="+mj-lt"/>
              <a:buAutoNum type="arabicPeriod"/>
            </a:pPr>
            <a:r>
              <a:rPr lang="ru-RU" sz="20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Анализ ключевых показателей товаров на платформе</a:t>
            </a:r>
          </a:p>
          <a:p>
            <a:pPr>
              <a:buFont typeface="+mj-lt"/>
              <a:buAutoNum type="arabicPeriod"/>
            </a:pPr>
            <a:r>
              <a:rPr lang="ru-RU" sz="20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Визуализация полученных результатов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600" dirty="0">
              <a:solidFill>
                <a:schemeClr val="lt2"/>
              </a:solidFill>
              <a:latin typeface="Roboto"/>
              <a:ea typeface="Roboto"/>
              <a:cs typeface="Roboto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600" dirty="0">
              <a:solidFill>
                <a:schemeClr val="lt2"/>
              </a:solidFill>
              <a:latin typeface="Roboto"/>
              <a:ea typeface="Roboto"/>
              <a:cs typeface="Roboto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600" dirty="0">
              <a:solidFill>
                <a:schemeClr val="lt2"/>
              </a:solidFill>
              <a:latin typeface="Roboto"/>
              <a:ea typeface="Roboto"/>
              <a:cs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>
            <a:spLocks noGrp="1"/>
          </p:cNvSpPr>
          <p:nvPr>
            <p:ph type="title"/>
          </p:nvPr>
        </p:nvSpPr>
        <p:spPr bwMode="auto"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работы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Google Shape;89;p15"/>
          <p:cNvSpPr txBox="1"/>
          <p:nvPr/>
        </p:nvSpPr>
        <p:spPr bwMode="auto">
          <a:xfrm>
            <a:off x="529441" y="859223"/>
            <a:ext cx="8542800" cy="40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defRPr/>
            </a:pPr>
            <a:r>
              <a:rPr lang="ru-RU" sz="20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Провести анализ данных для выявления закономерностей изменения цен и структуры ассортимента. С этой целью, в рамках проекта выполняются следующие задачи:</a:t>
            </a:r>
          </a:p>
          <a:p>
            <a:pPr marL="457200" lvl="0" indent="-457200">
              <a:buFont typeface="+mj-lt"/>
              <a:buAutoNum type="arabicPeriod"/>
              <a:defRPr/>
            </a:pPr>
            <a:r>
              <a:rPr lang="ru-RU" sz="20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анализ цен на товары</a:t>
            </a:r>
          </a:p>
          <a:p>
            <a:pPr marL="457200" lvl="0" indent="-457200">
              <a:buFont typeface="+mj-lt"/>
              <a:buAutoNum type="arabicPeriod"/>
              <a:defRPr/>
            </a:pPr>
            <a:r>
              <a:rPr lang="ru-RU" sz="20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исследование сезонности и волатильности цен</a:t>
            </a:r>
          </a:p>
          <a:p>
            <a:pPr marL="457200" lvl="0" indent="-457200">
              <a:buFont typeface="+mj-lt"/>
              <a:buAutoNum type="arabicPeriod"/>
              <a:defRPr/>
            </a:pPr>
            <a:r>
              <a:rPr lang="ru-RU" sz="20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анализ ассортимента товаров</a:t>
            </a:r>
          </a:p>
          <a:p>
            <a:pPr marL="457200" lvl="0" indent="-457200">
              <a:buFont typeface="+mj-lt"/>
              <a:buAutoNum type="arabicPeriod"/>
              <a:defRPr/>
            </a:pPr>
            <a:r>
              <a:rPr lang="ru-RU" sz="20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описательная статистика</a:t>
            </a:r>
          </a:p>
          <a:p>
            <a:pPr marL="457200" lvl="0" indent="-457200">
              <a:buFont typeface="+mj-lt"/>
              <a:buAutoNum type="arabicPeriod"/>
              <a:defRPr/>
            </a:pPr>
            <a:r>
              <a:rPr lang="ru-RU" sz="20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индексный анализ</a:t>
            </a:r>
          </a:p>
          <a:p>
            <a:pPr marL="457200" lvl="0" indent="-457200">
              <a:buFont typeface="+mj-lt"/>
              <a:buAutoNum type="arabicPeriod"/>
              <a:defRPr/>
            </a:pPr>
            <a:r>
              <a:rPr lang="ru-RU" sz="20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ранжирование категорий товаров по уровню инфляции</a:t>
            </a:r>
          </a:p>
          <a:p>
            <a:pPr marL="457200" lvl="0" indent="-457200">
              <a:buFont typeface="+mj-lt"/>
              <a:buAutoNum type="arabicPeriod"/>
              <a:defRPr/>
            </a:pPr>
            <a:r>
              <a:rPr lang="ru-RU" sz="20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определение оптимальных периодов покупок</a:t>
            </a:r>
          </a:p>
          <a:p>
            <a:pPr marL="457200" lvl="0" indent="-457200">
              <a:buFont typeface="+mj-lt"/>
              <a:buAutoNum type="arabicPeriod"/>
              <a:defRPr/>
            </a:pPr>
            <a:r>
              <a:rPr lang="ru-RU" sz="20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выявление категорий с аномальной волатильностью</a:t>
            </a:r>
            <a:endParaRPr sz="2000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ea typeface="Roboto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Парсинг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Google Shape;89;p15"/>
          <p:cNvSpPr txBox="1"/>
          <p:nvPr/>
        </p:nvSpPr>
        <p:spPr bwMode="auto">
          <a:xfrm>
            <a:off x="4598250" y="3072664"/>
            <a:ext cx="3984984" cy="1288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sz="2000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Инструкция к получению </a:t>
            </a:r>
            <a:r>
              <a:rPr lang="ru-RU" sz="2000" b="1" dirty="0" err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токена</a:t>
            </a:r>
            <a:r>
              <a:rPr lang="ru-RU" sz="2000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000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89;p15"/>
          <p:cNvSpPr txBox="1"/>
          <p:nvPr/>
        </p:nvSpPr>
        <p:spPr bwMode="auto">
          <a:xfrm>
            <a:off x="98250" y="619050"/>
            <a:ext cx="8826599" cy="4272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numCol="2" anchor="t" anchorCtr="0">
            <a:noAutofit/>
          </a:bodyPr>
          <a:lstStyle/>
          <a:p>
            <a:r>
              <a:rPr lang="ru-RU" sz="1600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Способ получения данных:</a:t>
            </a:r>
            <a:endParaRPr lang="ru-RU" sz="1600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Загрузка </a:t>
            </a:r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CSV-</a:t>
            </a:r>
            <a:r>
              <a:rPr lang="ru-RU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файла с помощью </a:t>
            </a:r>
            <a:r>
              <a:rPr lang="en-US" sz="1600" dirty="0" err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Kaggle</a:t>
            </a:r>
            <a:r>
              <a:rPr lang="ru-RU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endParaRPr lang="en-US" sz="1600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Альтернативно: прямая загрузка данных</a:t>
            </a:r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 сработает из-за большого объёма)</a:t>
            </a:r>
          </a:p>
          <a:p>
            <a:r>
              <a:rPr lang="ru-RU" sz="1600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Период </a:t>
            </a:r>
            <a:r>
              <a:rPr lang="ru-RU" sz="1600" b="1" dirty="0" err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парсинга</a:t>
            </a:r>
            <a:r>
              <a:rPr lang="ru-RU" sz="1600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Ноябрь 2021 — Декабрь 2023</a:t>
            </a:r>
            <a:br>
              <a:rPr lang="ru-RU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Наименование:</a:t>
            </a:r>
            <a:r>
              <a:rPr lang="ru-RU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1600" dirty="0" err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Mimovrste</a:t>
            </a:r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2021-2023 Item Prices</a:t>
            </a:r>
          </a:p>
          <a:p>
            <a:r>
              <a:rPr lang="ru-RU" sz="1600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Лицензия:</a:t>
            </a:r>
            <a:r>
              <a:rPr lang="ru-RU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CC0 1.0 (Public Domain)</a:t>
            </a:r>
            <a:endParaRPr lang="ru-RU" sz="1600" b="1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URL </a:t>
            </a:r>
            <a:r>
              <a:rPr lang="ru-RU" sz="1600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источника:</a:t>
            </a:r>
            <a:endParaRPr lang="ru-RU" sz="1600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 err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Kaggle</a:t>
            </a:r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 </a:t>
            </a:r>
            <a:r>
              <a:rPr lang="ru-RU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</a:t>
            </a:r>
          </a:p>
          <a:p>
            <a:endParaRPr lang="ru-RU" sz="1600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600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600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Оригинальный </a:t>
            </a:r>
            <a:br>
              <a:rPr lang="ru-RU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сайт:</a:t>
            </a:r>
          </a:p>
          <a:p>
            <a:endParaRPr lang="ru-RU" sz="2000" dirty="0"/>
          </a:p>
          <a:p>
            <a:pPr lvl="0">
              <a:defRPr/>
            </a:pPr>
            <a:endParaRPr sz="2000" dirty="0">
              <a:solidFill>
                <a:schemeClr val="bg2"/>
              </a:solidFill>
              <a:latin typeface="Times New Roman" panose="02020603050405020304" pitchFamily="18" charset="0"/>
              <a:ea typeface="Roboto"/>
              <a:cs typeface="Times New Roman" panose="02020603050405020304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1937" y="2500993"/>
            <a:ext cx="1169778" cy="1143343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0771" y="3884509"/>
            <a:ext cx="1235489" cy="1247369"/>
          </a:xfrm>
          <a:prstGeom prst="rect">
            <a:avLst/>
          </a:prstGeom>
        </p:spPr>
      </p:pic>
      <p:sp>
        <p:nvSpPr>
          <p:cNvPr id="7" name="Google Shape;201;p27"/>
          <p:cNvSpPr txBox="1"/>
          <p:nvPr/>
        </p:nvSpPr>
        <p:spPr>
          <a:xfrm>
            <a:off x="4598250" y="779405"/>
            <a:ext cx="4326600" cy="203129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rtl="0"/>
            <a:r>
              <a:rPr lang="ru-RU" sz="1000" dirty="0"/>
              <a:t>1 строка</a:t>
            </a:r>
            <a:br>
              <a:rPr lang="ru-RU" sz="1000" dirty="0"/>
            </a:br>
            <a:r>
              <a:rPr lang="ru-RU" sz="1000" dirty="0"/>
              <a:t># Скачивание с помощью </a:t>
            </a:r>
            <a:r>
              <a:rPr lang="en-US" sz="1000" dirty="0" err="1"/>
              <a:t>kaggle</a:t>
            </a:r>
            <a:r>
              <a:rPr lang="en-US" sz="1000" dirty="0"/>
              <a:t> API</a:t>
            </a:r>
            <a:br>
              <a:rPr lang="en-US" sz="1000" dirty="0"/>
            </a:br>
            <a:r>
              <a:rPr lang="en-US" sz="1000" dirty="0"/>
              <a:t>import </a:t>
            </a:r>
            <a:r>
              <a:rPr lang="en-US" sz="1000" dirty="0" err="1"/>
              <a:t>kagglehub</a:t>
            </a:r>
            <a:br>
              <a:rPr lang="en-US" sz="1000" dirty="0"/>
            </a:br>
            <a:r>
              <a:rPr lang="en-US" sz="1000" dirty="0"/>
              <a:t># Download latest version</a:t>
            </a:r>
            <a:br>
              <a:rPr lang="en-US" sz="1000" dirty="0"/>
            </a:br>
            <a:r>
              <a:rPr lang="en-US" sz="1000" dirty="0"/>
              <a:t>path = </a:t>
            </a:r>
            <a:r>
              <a:rPr lang="en-US" sz="1000" dirty="0" err="1"/>
              <a:t>kagglehub.dataset_download</a:t>
            </a:r>
            <a:r>
              <a:rPr lang="en-US" sz="1000" dirty="0"/>
              <a:t>("</a:t>
            </a:r>
            <a:r>
              <a:rPr lang="en-US" sz="1000" dirty="0" err="1"/>
              <a:t>govzegunns</a:t>
            </a:r>
            <a:r>
              <a:rPr lang="en-US" sz="1000" dirty="0"/>
              <a:t>/mimovrste-2021-2023-item-prices")</a:t>
            </a:r>
            <a:br>
              <a:rPr lang="en-US" sz="1000" dirty="0"/>
            </a:br>
            <a:br>
              <a:rPr lang="en-US" sz="1000" dirty="0"/>
            </a:br>
            <a:r>
              <a:rPr lang="en-US" sz="1000" dirty="0"/>
              <a:t>print("Path to dataset files:", path)</a:t>
            </a:r>
            <a:br>
              <a:rPr lang="en-US" sz="1000" dirty="0"/>
            </a:br>
            <a:br>
              <a:rPr lang="ru-RU" sz="1000" dirty="0"/>
            </a:br>
            <a:r>
              <a:rPr lang="ru-RU" sz="1000" dirty="0"/>
              <a:t>2 строка</a:t>
            </a:r>
            <a:br>
              <a:rPr lang="ru-RU" sz="1000" dirty="0"/>
            </a:br>
            <a:r>
              <a:rPr lang="ru-RU" sz="1000" dirty="0"/>
              <a:t># Извлечение данных с помощью программы 7-</a:t>
            </a:r>
            <a:r>
              <a:rPr lang="en-US" sz="1000" dirty="0"/>
              <a:t>ZIP</a:t>
            </a:r>
            <a:br>
              <a:rPr lang="en-US" sz="1000" dirty="0"/>
            </a:br>
            <a:r>
              <a:rPr lang="en-US" sz="1000" dirty="0"/>
              <a:t>"C:\Program Files\7-Zip\7z.exe" x "</a:t>
            </a:r>
            <a:r>
              <a:rPr lang="en-US" sz="1000" dirty="0">
                <a:hlinkClick r:id="rId4" tooltip="https://archive.zip/"/>
              </a:rPr>
              <a:t>archive.zip</a:t>
            </a:r>
            <a:r>
              <a:rPr lang="en-US" sz="1000" dirty="0"/>
              <a:t>" -</a:t>
            </a:r>
            <a:r>
              <a:rPr lang="en-US" sz="1000" dirty="0" err="1"/>
              <a:t>o"extracted</a:t>
            </a:r>
            <a:r>
              <a:rPr lang="en-US" sz="1000" dirty="0"/>
              <a:t>" -y</a:t>
            </a:r>
            <a:endParaRPr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5567" y="3534914"/>
            <a:ext cx="1371966" cy="1371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8315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 rtl="0"/>
            <a:r>
              <a:rPr lang="ru-RU" sz="2400" b="1" dirty="0">
                <a:solidFill>
                  <a:schemeClr val="bg1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Характеристики </a:t>
            </a:r>
            <a:r>
              <a:rPr lang="ru-RU" sz="2400" b="1">
                <a:solidFill>
                  <a:schemeClr val="bg1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сбора данных</a:t>
            </a:r>
            <a:endParaRPr lang="ru-RU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89;p15"/>
          <p:cNvSpPr txBox="1"/>
          <p:nvPr/>
        </p:nvSpPr>
        <p:spPr bwMode="auto">
          <a:xfrm>
            <a:off x="330839" y="859223"/>
            <a:ext cx="8813161" cy="4096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rtl="0">
              <a:buSzPts val="2000"/>
              <a:buFont typeface="Lato"/>
              <a:buChar char="●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Объем обработанных данных – 94.81 ГБ</a:t>
            </a:r>
          </a:p>
          <a:p>
            <a:pPr marL="457200" lvl="0" indent="-355600" rtl="0">
              <a:buSzPts val="2000"/>
              <a:buFont typeface="Lato"/>
              <a:buChar char="●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Количество обработанных строк - 480 900 277</a:t>
            </a:r>
          </a:p>
          <a:p>
            <a:pPr marL="457200" lvl="0" indent="-355600" rtl="0">
              <a:buSzPts val="2000"/>
              <a:buFont typeface="Lato"/>
              <a:buChar char="●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Время обработки ~ 9 ч 49 мин 00 сек 62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мсек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55600" rtl="0">
              <a:buSzPts val="2000"/>
              <a:buFont typeface="Lato"/>
              <a:buChar char="●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Скорость обработки ~ 53 215 строк/сек</a:t>
            </a:r>
          </a:p>
          <a:p>
            <a:pPr marL="457200" lvl="0" indent="-355600" rtl="0">
              <a:buSzPts val="2000"/>
              <a:buFont typeface="Lato"/>
              <a:buChar char="●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Размер итоговой выборки ~ 65 000 строки</a:t>
            </a:r>
          </a:p>
          <a:p>
            <a:pPr marL="101600" lvl="0" rtl="0">
              <a:buSzPts val="2000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Оптимизировано через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chunking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defRPr/>
            </a:pPr>
            <a:endParaRPr sz="2000" dirty="0">
              <a:solidFill>
                <a:schemeClr val="bg2"/>
              </a:solidFill>
              <a:latin typeface="Times New Roman" panose="02020603050405020304" pitchFamily="18" charset="0"/>
              <a:ea typeface="Roboto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04742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 собранных данных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 smtClean="0"/>
              <a:t>10</a:t>
            </a:fld>
            <a:endParaRPr lang="ru"/>
          </a:p>
        </p:txBody>
      </p:sp>
      <p:sp>
        <p:nvSpPr>
          <p:cNvPr id="4" name="Прямоугольник 3"/>
          <p:cNvSpPr/>
          <p:nvPr/>
        </p:nvSpPr>
        <p:spPr>
          <a:xfrm>
            <a:off x="98250" y="619050"/>
            <a:ext cx="9045750" cy="4678041"/>
          </a:xfrm>
          <a:prstGeom prst="rect">
            <a:avLst/>
          </a:prstGeom>
        </p:spPr>
        <p:txBody>
          <a:bodyPr wrap="square" numCol="3">
            <a:spAutoFit/>
          </a:bodyPr>
          <a:lstStyle/>
          <a:p>
            <a:pPr>
              <a:buFont typeface="+mj-lt"/>
              <a:buAutoNum type="arabicPeriod"/>
            </a:pPr>
            <a:r>
              <a:rPr lang="en-US" sz="18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8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(string) - </a:t>
            </a:r>
            <a:r>
              <a:rPr lang="ru-RU" sz="18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название товара</a:t>
            </a:r>
          </a:p>
          <a:p>
            <a:pPr>
              <a:buFont typeface="+mj-lt"/>
              <a:buAutoNum type="arabicPeriod"/>
            </a:pPr>
            <a:r>
              <a:rPr lang="en-US" sz="18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price</a:t>
            </a:r>
            <a:r>
              <a:rPr lang="en-US" sz="18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(float) - </a:t>
            </a:r>
            <a:r>
              <a:rPr lang="ru-RU" sz="18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текущая цена в евро</a:t>
            </a:r>
          </a:p>
          <a:p>
            <a:pPr>
              <a:buFont typeface="+mj-lt"/>
              <a:buAutoNum type="arabicPeriod"/>
            </a:pPr>
            <a:r>
              <a:rPr lang="en-US" sz="1800" b="1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current_price</a:t>
            </a:r>
            <a:r>
              <a:rPr lang="en-US" sz="18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(float) - </a:t>
            </a:r>
            <a:r>
              <a:rPr lang="ru-RU" sz="18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актуальная цена</a:t>
            </a:r>
          </a:p>
          <a:p>
            <a:pPr>
              <a:buFont typeface="+mj-lt"/>
              <a:buAutoNum type="arabicPeriod"/>
            </a:pPr>
            <a:r>
              <a:rPr lang="en-US" sz="1800" b="1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lowest_price</a:t>
            </a:r>
            <a:r>
              <a:rPr lang="en-US" sz="18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(float) - </a:t>
            </a:r>
            <a:r>
              <a:rPr lang="ru-RU" sz="18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минимальная цена</a:t>
            </a:r>
          </a:p>
          <a:p>
            <a:pPr>
              <a:buFont typeface="+mj-lt"/>
              <a:buAutoNum type="arabicPeriod"/>
            </a:pPr>
            <a:r>
              <a:rPr lang="en-US" sz="1800" b="1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msrp_price</a:t>
            </a:r>
            <a:r>
              <a:rPr lang="en-US" sz="18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(float) - </a:t>
            </a:r>
            <a:r>
              <a:rPr lang="ru-RU" sz="18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рекомендованная производителем цена</a:t>
            </a:r>
          </a:p>
          <a:p>
            <a:pPr>
              <a:buFont typeface="+mj-lt"/>
              <a:buAutoNum type="arabicPeriod"/>
            </a:pPr>
            <a:r>
              <a:rPr lang="en-US" sz="18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  <a:r>
              <a:rPr lang="en-US" sz="18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(string) - URL </a:t>
            </a:r>
            <a:r>
              <a:rPr lang="ru-RU" sz="18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изображения</a:t>
            </a:r>
          </a:p>
          <a:p>
            <a:pPr>
              <a:buFont typeface="+mj-lt"/>
              <a:buAutoNum type="arabicPeriod"/>
            </a:pPr>
            <a:r>
              <a:rPr lang="en-US" sz="1800" b="1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item_url</a:t>
            </a:r>
            <a:r>
              <a:rPr lang="en-US" sz="18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(string) - URL </a:t>
            </a:r>
            <a:r>
              <a:rPr lang="ru-RU" sz="18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товара</a:t>
            </a:r>
            <a:br>
              <a:rPr lang="ru-RU" sz="18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1800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sz="1800" b="1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category_name</a:t>
            </a:r>
            <a:r>
              <a:rPr lang="en-US" sz="18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(string) - </a:t>
            </a:r>
            <a:r>
              <a:rPr lang="ru-RU" sz="18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категория товара</a:t>
            </a:r>
          </a:p>
          <a:p>
            <a:pPr>
              <a:buFont typeface="+mj-lt"/>
              <a:buAutoNum type="arabicPeriod"/>
            </a:pPr>
            <a:r>
              <a:rPr lang="en-US" sz="1800" b="1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category_url</a:t>
            </a:r>
            <a:r>
              <a:rPr lang="en-US" sz="18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(string) - URL </a:t>
            </a:r>
            <a:r>
              <a:rPr lang="ru-RU" sz="18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категории</a:t>
            </a:r>
          </a:p>
          <a:p>
            <a:pPr>
              <a:buFont typeface="+mj-lt"/>
              <a:buAutoNum type="arabicPeriod"/>
            </a:pPr>
            <a:r>
              <a:rPr lang="en-US" sz="1800" b="1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available</a:t>
            </a:r>
            <a:r>
              <a:rPr lang="en-US" sz="18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(</a:t>
            </a:r>
            <a:r>
              <a:rPr lang="en-US" sz="1800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lang="en-US" sz="18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- </a:t>
            </a:r>
            <a:r>
              <a:rPr lang="ru-RU" sz="18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доступен ли товар</a:t>
            </a:r>
          </a:p>
          <a:p>
            <a:pPr>
              <a:buFont typeface="+mj-lt"/>
              <a:buAutoNum type="arabicPeriod"/>
            </a:pPr>
            <a:r>
              <a:rPr lang="en-US" sz="1800" b="1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in_promotion</a:t>
            </a:r>
            <a:r>
              <a:rPr lang="en-US" sz="18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(</a:t>
            </a:r>
            <a:r>
              <a:rPr lang="en-US" sz="1800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lang="en-US" sz="18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- </a:t>
            </a:r>
            <a:r>
              <a:rPr lang="ru-RU" sz="18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есть ли акция</a:t>
            </a:r>
          </a:p>
          <a:p>
            <a:pPr>
              <a:buFont typeface="+mj-lt"/>
              <a:buAutoNum type="arabicPeriod"/>
            </a:pPr>
            <a:r>
              <a:rPr lang="en-US" sz="1800" b="1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lowest_product_price</a:t>
            </a:r>
            <a:r>
              <a:rPr lang="en-US" sz="18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(float) - </a:t>
            </a:r>
            <a:r>
              <a:rPr lang="ru-RU" sz="18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минимальная цена товара</a:t>
            </a:r>
          </a:p>
          <a:p>
            <a:pPr>
              <a:buFont typeface="+mj-lt"/>
              <a:buAutoNum type="arabicPeriod"/>
            </a:pPr>
            <a:r>
              <a:rPr lang="en-US" sz="1800" b="1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on_sale</a:t>
            </a:r>
            <a:r>
              <a:rPr lang="en-US" sz="18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(</a:t>
            </a:r>
            <a:r>
              <a:rPr lang="en-US" sz="1800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lang="en-US" sz="18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- </a:t>
            </a:r>
            <a:r>
              <a:rPr lang="ru-RU" sz="18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распродажа</a:t>
            </a:r>
          </a:p>
          <a:p>
            <a:pPr>
              <a:buFont typeface="+mj-lt"/>
              <a:buAutoNum type="arabicPeriod"/>
            </a:pPr>
            <a:r>
              <a:rPr lang="en-US" sz="1800" b="1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free_delivery</a:t>
            </a:r>
            <a:r>
              <a:rPr lang="en-US" sz="18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(</a:t>
            </a:r>
            <a:r>
              <a:rPr lang="en-US" sz="1800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lang="en-US" sz="18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- </a:t>
            </a:r>
            <a:r>
              <a:rPr lang="ru-RU" sz="18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бесплатная доставка</a:t>
            </a:r>
          </a:p>
          <a:p>
            <a:pPr>
              <a:buFont typeface="+mj-lt"/>
              <a:buAutoNum type="arabicPeriod"/>
            </a:pPr>
            <a:r>
              <a:rPr lang="en-US" sz="1800" b="1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product_id</a:t>
            </a:r>
            <a:r>
              <a:rPr lang="en-US" sz="18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(string) - ID </a:t>
            </a:r>
            <a:r>
              <a:rPr lang="ru-RU" sz="18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продукта</a:t>
            </a:r>
          </a:p>
          <a:p>
            <a:pPr>
              <a:buFont typeface="+mj-lt"/>
              <a:buAutoNum type="arabicPeriod"/>
            </a:pPr>
            <a:r>
              <a:rPr lang="en-US" sz="1800" b="1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review_count</a:t>
            </a:r>
            <a:r>
              <a:rPr lang="en-US" sz="18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(</a:t>
            </a:r>
            <a:r>
              <a:rPr lang="en-US" sz="1800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18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- </a:t>
            </a:r>
            <a:r>
              <a:rPr lang="ru-RU" sz="18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количество отзывов</a:t>
            </a:r>
          </a:p>
          <a:p>
            <a:pPr>
              <a:buFont typeface="+mj-lt"/>
              <a:buAutoNum type="arabicPeriod"/>
            </a:pPr>
            <a:r>
              <a:rPr lang="en-US" sz="1800" b="1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review_stars</a:t>
            </a:r>
            <a:r>
              <a:rPr lang="en-US" sz="18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(float) - </a:t>
            </a:r>
            <a:r>
              <a:rPr lang="ru-RU" sz="18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рейтинг в звездах</a:t>
            </a:r>
          </a:p>
          <a:p>
            <a:pPr>
              <a:buFont typeface="+mj-lt"/>
              <a:buAutoNum type="arabicPeriod"/>
            </a:pPr>
            <a:r>
              <a:rPr lang="en-US" sz="1800" b="1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short_desc</a:t>
            </a:r>
            <a:r>
              <a:rPr lang="en-US" sz="18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(string) - </a:t>
            </a:r>
            <a:r>
              <a:rPr lang="ru-RU" sz="18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краткое описание</a:t>
            </a:r>
          </a:p>
          <a:p>
            <a:pPr>
              <a:buFont typeface="+mj-lt"/>
              <a:buAutoNum type="arabicPeriod"/>
            </a:pPr>
            <a:r>
              <a:rPr lang="en-US" sz="1800" b="1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brand_name</a:t>
            </a:r>
            <a:r>
              <a:rPr lang="en-US" sz="18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(string) – </a:t>
            </a:r>
            <a:r>
              <a:rPr lang="ru-RU" sz="18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бренд</a:t>
            </a:r>
          </a:p>
          <a:p>
            <a:pPr>
              <a:buFont typeface="+mj-lt"/>
              <a:buAutoNum type="arabicPeriod"/>
            </a:pPr>
            <a:r>
              <a:rPr lang="en-US" sz="1800" b="1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item_url_key</a:t>
            </a:r>
            <a:r>
              <a:rPr lang="en-US" sz="18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(string) - </a:t>
            </a:r>
            <a:r>
              <a:rPr lang="ru-RU" sz="18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ключ </a:t>
            </a:r>
            <a:r>
              <a:rPr lang="en-US" sz="18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</a:p>
          <a:p>
            <a:pPr>
              <a:buFont typeface="+mj-lt"/>
              <a:buAutoNum type="arabicPeriod"/>
            </a:pPr>
            <a:r>
              <a:rPr lang="en-US" sz="1800" b="1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parsed_at</a:t>
            </a:r>
            <a:r>
              <a:rPr lang="en-US" sz="18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(</a:t>
            </a:r>
            <a:r>
              <a:rPr lang="en-US" sz="1800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datetime</a:t>
            </a:r>
            <a:r>
              <a:rPr lang="en-US" sz="18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- </a:t>
            </a:r>
            <a:r>
              <a:rPr lang="ru-RU" sz="1800" dirty="0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дата и время </a:t>
            </a:r>
            <a:r>
              <a:rPr lang="ru-RU" sz="1800" dirty="0" err="1">
                <a:solidFill>
                  <a:srgbClr val="1F23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парсинга</a:t>
            </a:r>
            <a:endParaRPr lang="ru-RU" sz="1800" dirty="0">
              <a:solidFill>
                <a:srgbClr val="1F23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8258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ETL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Предобработка данных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 smtClean="0"/>
              <a:t>11</a:t>
            </a:fld>
            <a:endParaRPr lang="ru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44089" y="831386"/>
            <a:ext cx="8134921" cy="39703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ru-RU" altLang="ru-RU" sz="2400" b="1" i="0" u="none" strike="noStrike" cap="none" normalizeH="0" baseline="0" dirty="0" err="1">
                <a:ln>
                  <a:noFill/>
                </a:ln>
                <a:solidFill>
                  <a:srgbClr val="1F23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Extract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Чтение файла mimodump-dataset.csv 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1F23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чанками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по 50 000 строк (аналог разделения на блоки в HDFS).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ru-RU" altLang="ru-RU" sz="2400" b="1" i="0" u="none" strike="noStrike" cap="none" normalizeH="0" baseline="0" dirty="0" err="1">
                <a:ln>
                  <a:noFill/>
                </a:ln>
                <a:solidFill>
                  <a:srgbClr val="1F23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Transform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rgbClr val="1F232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Преобразование строковых значений цен в 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1F23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float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Фильтрация некорректных значений (цены &lt; 0 или &gt; 10 000 €).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Обогащение: извлечение года и месяца из поля 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1F23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parsed_at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ru-RU" altLang="ru-RU" sz="2400" b="1" i="0" u="none" strike="noStrike" cap="none" normalizeH="0" baseline="0" dirty="0" err="1">
                <a:ln>
                  <a:noFill/>
                </a:ln>
                <a:solidFill>
                  <a:srgbClr val="1F23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Load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Сохранение обработанной выборки в колончатый формат </a:t>
            </a:r>
            <a:r>
              <a:rPr kumimoji="0" lang="ru-RU" altLang="ru-RU" sz="2400" i="0" u="none" strike="noStrike" cap="none" normalizeH="0" baseline="0" dirty="0" err="1">
                <a:ln>
                  <a:noFill/>
                </a:ln>
                <a:solidFill>
                  <a:srgbClr val="1F23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Apache</a:t>
            </a:r>
            <a:r>
              <a:rPr kumimoji="0" lang="ru-RU" altLang="ru-RU" sz="240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400" i="0" u="none" strike="noStrike" cap="none" normalizeH="0" baseline="0" dirty="0" err="1">
                <a:ln>
                  <a:noFill/>
                </a:ln>
                <a:solidFill>
                  <a:srgbClr val="1F23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Parquet</a:t>
            </a:r>
            <a:r>
              <a:rPr kumimoji="0" lang="ru-RU" altLang="ru-RU" sz="240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 сжатием 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1F23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zstd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оптимизированный для аналитических запросов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F23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70140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 rtl="0"/>
            <a:r>
              <a:rPr lang="ru-RU" sz="2800" b="1" dirty="0">
                <a:solidFill>
                  <a:schemeClr val="bg1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Формирование </a:t>
            </a:r>
            <a:r>
              <a:rPr lang="ru-RU" sz="2800" b="1" dirty="0" err="1">
                <a:solidFill>
                  <a:schemeClr val="bg1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датасета</a:t>
            </a:r>
            <a:endParaRPr lang="ru-RU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Google Shape;201;p27"/>
          <p:cNvSpPr txBox="1"/>
          <p:nvPr/>
        </p:nvSpPr>
        <p:spPr>
          <a:xfrm>
            <a:off x="184950" y="743012"/>
            <a:ext cx="4326600" cy="4339619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rtl="0"/>
            <a:r>
              <a:rPr lang="en-US" sz="900" dirty="0">
                <a:latin typeface="Consolas"/>
                <a:ea typeface="Consolas"/>
                <a:cs typeface="Consolas"/>
                <a:sym typeface="Consolas"/>
              </a:rPr>
              <a:t>{</a:t>
            </a:r>
          </a:p>
          <a:p>
            <a:pPr lvl="0" rtl="0"/>
            <a:r>
              <a:rPr lang="en-US" sz="900" dirty="0">
                <a:latin typeface="Consolas"/>
                <a:ea typeface="Consolas"/>
                <a:cs typeface="Consolas"/>
                <a:sym typeface="Consolas"/>
              </a:rPr>
              <a:t>  "_id": "</a:t>
            </a:r>
            <a:r>
              <a:rPr lang="en-US" sz="900" dirty="0" err="1">
                <a:latin typeface="Consolas"/>
                <a:ea typeface="Consolas"/>
                <a:cs typeface="Consolas"/>
                <a:sym typeface="Consolas"/>
              </a:rPr>
              <a:t>ObjectId</a:t>
            </a:r>
            <a:r>
              <a:rPr lang="en-US" sz="900" dirty="0">
                <a:latin typeface="Consolas"/>
                <a:ea typeface="Consolas"/>
                <a:cs typeface="Consolas"/>
                <a:sym typeface="Consolas"/>
              </a:rPr>
              <a:t>('...')",</a:t>
            </a:r>
          </a:p>
          <a:p>
            <a:pPr lvl="0" rtl="0"/>
            <a:r>
              <a:rPr lang="en-US" sz="900" dirty="0">
                <a:latin typeface="Consolas"/>
                <a:ea typeface="Consolas"/>
                <a:cs typeface="Consolas"/>
                <a:sym typeface="Consolas"/>
              </a:rPr>
              <a:t>  "</a:t>
            </a:r>
            <a:r>
              <a:rPr lang="en-US" sz="900" dirty="0" err="1">
                <a:latin typeface="Consolas"/>
                <a:ea typeface="Consolas"/>
                <a:cs typeface="Consolas"/>
                <a:sym typeface="Consolas"/>
              </a:rPr>
              <a:t>product_id</a:t>
            </a:r>
            <a:r>
              <a:rPr lang="en-US" sz="900" dirty="0">
                <a:latin typeface="Consolas"/>
                <a:ea typeface="Consolas"/>
                <a:cs typeface="Consolas"/>
                <a:sym typeface="Consolas"/>
              </a:rPr>
              <a:t>": "100078120788",</a:t>
            </a:r>
          </a:p>
          <a:p>
            <a:pPr lvl="0" rtl="0"/>
            <a:r>
              <a:rPr lang="en-US" sz="900" dirty="0">
                <a:latin typeface="Consolas"/>
                <a:ea typeface="Consolas"/>
                <a:cs typeface="Consolas"/>
                <a:sym typeface="Consolas"/>
              </a:rPr>
              <a:t>  "name": "tulup.si </a:t>
            </a:r>
            <a:r>
              <a:rPr lang="en-US" sz="900" dirty="0" err="1">
                <a:latin typeface="Consolas"/>
                <a:ea typeface="Consolas"/>
                <a:cs typeface="Consolas"/>
                <a:sym typeface="Consolas"/>
              </a:rPr>
              <a:t>Slika</a:t>
            </a:r>
            <a:r>
              <a:rPr lang="en-US" sz="9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900" dirty="0" err="1">
                <a:latin typeface="Consolas"/>
                <a:ea typeface="Consolas"/>
                <a:cs typeface="Consolas"/>
                <a:sym typeface="Consolas"/>
              </a:rPr>
              <a:t>na</a:t>
            </a:r>
            <a:r>
              <a:rPr lang="en-US" sz="9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900" dirty="0" err="1">
                <a:latin typeface="Consolas"/>
                <a:ea typeface="Consolas"/>
                <a:cs typeface="Consolas"/>
                <a:sym typeface="Consolas"/>
              </a:rPr>
              <a:t>platnu</a:t>
            </a:r>
            <a:r>
              <a:rPr lang="en-US" sz="9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900" dirty="0" err="1">
                <a:latin typeface="Consolas"/>
                <a:ea typeface="Consolas"/>
                <a:cs typeface="Consolas"/>
                <a:sym typeface="Consolas"/>
              </a:rPr>
              <a:t>Pokrajina</a:t>
            </a:r>
            <a:r>
              <a:rPr lang="en-US" sz="900" dirty="0">
                <a:latin typeface="Consolas"/>
                <a:ea typeface="Consolas"/>
                <a:cs typeface="Consolas"/>
                <a:sym typeface="Consolas"/>
              </a:rPr>
              <a:t> desert sand",</a:t>
            </a:r>
          </a:p>
          <a:p>
            <a:pPr lvl="0" rtl="0"/>
            <a:r>
              <a:rPr lang="en-US" sz="900" dirty="0">
                <a:latin typeface="Consolas"/>
                <a:ea typeface="Consolas"/>
                <a:cs typeface="Consolas"/>
                <a:sym typeface="Consolas"/>
              </a:rPr>
              <a:t>  "category": {</a:t>
            </a:r>
          </a:p>
          <a:p>
            <a:pPr lvl="0" rtl="0"/>
            <a:r>
              <a:rPr lang="en-US" sz="900" dirty="0">
                <a:latin typeface="Consolas"/>
                <a:ea typeface="Consolas"/>
                <a:cs typeface="Consolas"/>
                <a:sym typeface="Consolas"/>
              </a:rPr>
              <a:t>    "name": "</a:t>
            </a:r>
            <a:r>
              <a:rPr lang="en-US" sz="900" dirty="0" err="1">
                <a:latin typeface="Consolas"/>
                <a:ea typeface="Consolas"/>
                <a:cs typeface="Consolas"/>
                <a:sym typeface="Consolas"/>
              </a:rPr>
              <a:t>vsa</a:t>
            </a:r>
            <a:r>
              <a:rPr lang="en-US" sz="9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900" dirty="0" err="1">
                <a:latin typeface="Consolas"/>
                <a:ea typeface="Consolas"/>
                <a:cs typeface="Consolas"/>
                <a:sym typeface="Consolas"/>
              </a:rPr>
              <a:t>obutev</a:t>
            </a:r>
            <a:r>
              <a:rPr lang="en-US" sz="900" dirty="0">
                <a:latin typeface="Consolas"/>
                <a:ea typeface="Consolas"/>
                <a:cs typeface="Consolas"/>
                <a:sym typeface="Consolas"/>
              </a:rPr>
              <a:t>",</a:t>
            </a:r>
          </a:p>
          <a:p>
            <a:pPr lvl="0" rtl="0"/>
            <a:r>
              <a:rPr lang="en-US" sz="900" dirty="0">
                <a:latin typeface="Consolas"/>
                <a:ea typeface="Consolas"/>
                <a:cs typeface="Consolas"/>
                <a:sym typeface="Consolas"/>
              </a:rPr>
              <a:t>    "</a:t>
            </a:r>
            <a:r>
              <a:rPr lang="en-US" sz="900" dirty="0" err="1">
                <a:latin typeface="Consolas"/>
                <a:ea typeface="Consolas"/>
                <a:cs typeface="Consolas"/>
                <a:sym typeface="Consolas"/>
              </a:rPr>
              <a:t>url</a:t>
            </a:r>
            <a:r>
              <a:rPr lang="en-US" sz="900" dirty="0">
                <a:latin typeface="Consolas"/>
                <a:ea typeface="Consolas"/>
                <a:cs typeface="Consolas"/>
                <a:sym typeface="Consolas"/>
              </a:rPr>
              <a:t>": "https://www.mimovrste.com/obutev"</a:t>
            </a:r>
          </a:p>
          <a:p>
            <a:pPr lvl="0" rtl="0"/>
            <a:r>
              <a:rPr lang="en-US" sz="900" dirty="0">
                <a:latin typeface="Consolas"/>
                <a:ea typeface="Consolas"/>
                <a:cs typeface="Consolas"/>
                <a:sym typeface="Consolas"/>
              </a:rPr>
              <a:t>  },</a:t>
            </a:r>
          </a:p>
          <a:p>
            <a:pPr lvl="0" rtl="0"/>
            <a:r>
              <a:rPr lang="en-US" sz="900" dirty="0">
                <a:latin typeface="Consolas"/>
                <a:ea typeface="Consolas"/>
                <a:cs typeface="Consolas"/>
                <a:sym typeface="Consolas"/>
              </a:rPr>
              <a:t>  "pricing": {</a:t>
            </a:r>
          </a:p>
          <a:p>
            <a:pPr lvl="0" rtl="0"/>
            <a:r>
              <a:rPr lang="en-US" sz="900" dirty="0">
                <a:latin typeface="Consolas"/>
                <a:ea typeface="Consolas"/>
                <a:cs typeface="Consolas"/>
                <a:sym typeface="Consolas"/>
              </a:rPr>
              <a:t>    "</a:t>
            </a:r>
            <a:r>
              <a:rPr lang="en-US" sz="900" dirty="0" err="1">
                <a:latin typeface="Consolas"/>
                <a:ea typeface="Consolas"/>
                <a:cs typeface="Consolas"/>
                <a:sym typeface="Consolas"/>
              </a:rPr>
              <a:t>current_price</a:t>
            </a:r>
            <a:r>
              <a:rPr lang="en-US" sz="900" dirty="0">
                <a:latin typeface="Consolas"/>
                <a:ea typeface="Consolas"/>
                <a:cs typeface="Consolas"/>
                <a:sym typeface="Consolas"/>
              </a:rPr>
              <a:t>": 31.95,</a:t>
            </a:r>
          </a:p>
          <a:p>
            <a:pPr lvl="0" rtl="0"/>
            <a:r>
              <a:rPr lang="en-US" sz="900" dirty="0">
                <a:latin typeface="Consolas"/>
                <a:ea typeface="Consolas"/>
                <a:cs typeface="Consolas"/>
                <a:sym typeface="Consolas"/>
              </a:rPr>
              <a:t>    "</a:t>
            </a:r>
            <a:r>
              <a:rPr lang="en-US" sz="900" dirty="0" err="1">
                <a:latin typeface="Consolas"/>
                <a:ea typeface="Consolas"/>
                <a:cs typeface="Consolas"/>
                <a:sym typeface="Consolas"/>
              </a:rPr>
              <a:t>lowest_price</a:t>
            </a:r>
            <a:r>
              <a:rPr lang="en-US" sz="900" dirty="0">
                <a:latin typeface="Consolas"/>
                <a:ea typeface="Consolas"/>
                <a:cs typeface="Consolas"/>
                <a:sym typeface="Consolas"/>
              </a:rPr>
              <a:t>": 24.00,</a:t>
            </a:r>
          </a:p>
          <a:p>
            <a:pPr lvl="0" rtl="0"/>
            <a:r>
              <a:rPr lang="en-US" sz="900" dirty="0">
                <a:latin typeface="Consolas"/>
                <a:ea typeface="Consolas"/>
                <a:cs typeface="Consolas"/>
                <a:sym typeface="Consolas"/>
              </a:rPr>
              <a:t>    "</a:t>
            </a:r>
            <a:r>
              <a:rPr lang="en-US" sz="900" dirty="0" err="1">
                <a:latin typeface="Consolas"/>
                <a:ea typeface="Consolas"/>
                <a:cs typeface="Consolas"/>
                <a:sym typeface="Consolas"/>
              </a:rPr>
              <a:t>msrp_price</a:t>
            </a:r>
            <a:r>
              <a:rPr lang="en-US" sz="900" dirty="0">
                <a:latin typeface="Consolas"/>
                <a:ea typeface="Consolas"/>
                <a:cs typeface="Consolas"/>
                <a:sym typeface="Consolas"/>
              </a:rPr>
              <a:t>": 31.95,</a:t>
            </a:r>
          </a:p>
          <a:p>
            <a:pPr lvl="0" rtl="0"/>
            <a:r>
              <a:rPr lang="en-US" sz="900" dirty="0">
                <a:latin typeface="Consolas"/>
                <a:ea typeface="Consolas"/>
                <a:cs typeface="Consolas"/>
                <a:sym typeface="Consolas"/>
              </a:rPr>
              <a:t>    "currency": "EUR",</a:t>
            </a:r>
          </a:p>
          <a:p>
            <a:pPr lvl="0" rtl="0"/>
            <a:r>
              <a:rPr lang="en-US" sz="900" dirty="0">
                <a:latin typeface="Consolas"/>
                <a:ea typeface="Consolas"/>
                <a:cs typeface="Consolas"/>
                <a:sym typeface="Consolas"/>
              </a:rPr>
              <a:t>    "</a:t>
            </a:r>
            <a:r>
              <a:rPr lang="en-US" sz="900" dirty="0" err="1">
                <a:latin typeface="Consolas"/>
                <a:ea typeface="Consolas"/>
                <a:cs typeface="Consolas"/>
                <a:sym typeface="Consolas"/>
              </a:rPr>
              <a:t>in_promotion</a:t>
            </a:r>
            <a:r>
              <a:rPr lang="en-US" sz="900" dirty="0">
                <a:latin typeface="Consolas"/>
                <a:ea typeface="Consolas"/>
                <a:cs typeface="Consolas"/>
                <a:sym typeface="Consolas"/>
              </a:rPr>
              <a:t>": false</a:t>
            </a:r>
          </a:p>
          <a:p>
            <a:pPr lvl="0" rtl="0"/>
            <a:r>
              <a:rPr lang="en-US" sz="900" dirty="0">
                <a:latin typeface="Consolas"/>
                <a:ea typeface="Consolas"/>
                <a:cs typeface="Consolas"/>
                <a:sym typeface="Consolas"/>
              </a:rPr>
              <a:t>  },</a:t>
            </a:r>
          </a:p>
          <a:p>
            <a:pPr lvl="0" rtl="0"/>
            <a:r>
              <a:rPr lang="en-US" sz="900" dirty="0">
                <a:latin typeface="Consolas"/>
                <a:ea typeface="Consolas"/>
                <a:cs typeface="Consolas"/>
                <a:sym typeface="Consolas"/>
              </a:rPr>
              <a:t>  "metadata": {</a:t>
            </a:r>
          </a:p>
          <a:p>
            <a:pPr lvl="0" rtl="0"/>
            <a:r>
              <a:rPr lang="en-US" sz="900" dirty="0">
                <a:latin typeface="Consolas"/>
                <a:ea typeface="Consolas"/>
                <a:cs typeface="Consolas"/>
                <a:sym typeface="Consolas"/>
              </a:rPr>
              <a:t>    "brand": "tulup.si",</a:t>
            </a:r>
          </a:p>
          <a:p>
            <a:pPr lvl="0" rtl="0"/>
            <a:r>
              <a:rPr lang="en-US" sz="900" dirty="0">
                <a:latin typeface="Consolas"/>
                <a:ea typeface="Consolas"/>
                <a:cs typeface="Consolas"/>
                <a:sym typeface="Consolas"/>
              </a:rPr>
              <a:t>    "</a:t>
            </a:r>
            <a:r>
              <a:rPr lang="en-US" sz="900" dirty="0" err="1">
                <a:latin typeface="Consolas"/>
                <a:ea typeface="Consolas"/>
                <a:cs typeface="Consolas"/>
                <a:sym typeface="Consolas"/>
              </a:rPr>
              <a:t>review_count</a:t>
            </a:r>
            <a:r>
              <a:rPr lang="en-US" sz="900" dirty="0">
                <a:latin typeface="Consolas"/>
                <a:ea typeface="Consolas"/>
                <a:cs typeface="Consolas"/>
                <a:sym typeface="Consolas"/>
              </a:rPr>
              <a:t>": 0,</a:t>
            </a:r>
          </a:p>
          <a:p>
            <a:pPr lvl="0" rtl="0"/>
            <a:r>
              <a:rPr lang="en-US" sz="900" dirty="0">
                <a:latin typeface="Consolas"/>
                <a:ea typeface="Consolas"/>
                <a:cs typeface="Consolas"/>
                <a:sym typeface="Consolas"/>
              </a:rPr>
              <a:t>    "</a:t>
            </a:r>
            <a:r>
              <a:rPr lang="en-US" sz="900" dirty="0" err="1">
                <a:latin typeface="Consolas"/>
                <a:ea typeface="Consolas"/>
                <a:cs typeface="Consolas"/>
                <a:sym typeface="Consolas"/>
              </a:rPr>
              <a:t>review_stars</a:t>
            </a:r>
            <a:r>
              <a:rPr lang="en-US" sz="900" dirty="0">
                <a:latin typeface="Consolas"/>
                <a:ea typeface="Consolas"/>
                <a:cs typeface="Consolas"/>
                <a:sym typeface="Consolas"/>
              </a:rPr>
              <a:t>": null,</a:t>
            </a:r>
          </a:p>
          <a:p>
            <a:pPr lvl="0" rtl="0"/>
            <a:r>
              <a:rPr lang="en-US" sz="900" dirty="0">
                <a:latin typeface="Consolas"/>
                <a:ea typeface="Consolas"/>
                <a:cs typeface="Consolas"/>
                <a:sym typeface="Consolas"/>
              </a:rPr>
              <a:t>    "available": true,</a:t>
            </a:r>
          </a:p>
          <a:p>
            <a:pPr lvl="0" rtl="0"/>
            <a:r>
              <a:rPr lang="en-US" sz="900" dirty="0">
                <a:latin typeface="Consolas"/>
                <a:ea typeface="Consolas"/>
                <a:cs typeface="Consolas"/>
                <a:sym typeface="Consolas"/>
              </a:rPr>
              <a:t>    "</a:t>
            </a:r>
            <a:r>
              <a:rPr lang="en-US" sz="900" dirty="0" err="1">
                <a:latin typeface="Consolas"/>
                <a:ea typeface="Consolas"/>
                <a:cs typeface="Consolas"/>
                <a:sym typeface="Consolas"/>
              </a:rPr>
              <a:t>free_delivery</a:t>
            </a:r>
            <a:r>
              <a:rPr lang="en-US" sz="900" dirty="0">
                <a:latin typeface="Consolas"/>
                <a:ea typeface="Consolas"/>
                <a:cs typeface="Consolas"/>
                <a:sym typeface="Consolas"/>
              </a:rPr>
              <a:t>": false</a:t>
            </a:r>
          </a:p>
          <a:p>
            <a:pPr lvl="0" rtl="0"/>
            <a:r>
              <a:rPr lang="en-US" sz="900" dirty="0">
                <a:latin typeface="Consolas"/>
                <a:ea typeface="Consolas"/>
                <a:cs typeface="Consolas"/>
                <a:sym typeface="Consolas"/>
              </a:rPr>
              <a:t>  },</a:t>
            </a:r>
          </a:p>
          <a:p>
            <a:pPr lvl="0" rtl="0"/>
            <a:r>
              <a:rPr lang="en-US" sz="900" dirty="0">
                <a:latin typeface="Consolas"/>
                <a:ea typeface="Consolas"/>
                <a:cs typeface="Consolas"/>
                <a:sym typeface="Consolas"/>
              </a:rPr>
              <a:t>  "</a:t>
            </a:r>
            <a:r>
              <a:rPr lang="en-US" sz="900" dirty="0" err="1">
                <a:latin typeface="Consolas"/>
                <a:ea typeface="Consolas"/>
                <a:cs typeface="Consolas"/>
                <a:sym typeface="Consolas"/>
              </a:rPr>
              <a:t>parsed_at</a:t>
            </a:r>
            <a:r>
              <a:rPr lang="en-US" sz="900" dirty="0">
                <a:latin typeface="Consolas"/>
                <a:ea typeface="Consolas"/>
                <a:cs typeface="Consolas"/>
                <a:sym typeface="Consolas"/>
              </a:rPr>
              <a:t>": </a:t>
            </a:r>
            <a:r>
              <a:rPr lang="en-US" sz="900" dirty="0" err="1">
                <a:latin typeface="Consolas"/>
                <a:ea typeface="Consolas"/>
                <a:cs typeface="Consolas"/>
                <a:sym typeface="Consolas"/>
              </a:rPr>
              <a:t>ISODate</a:t>
            </a:r>
            <a:r>
              <a:rPr lang="en-US" sz="900" dirty="0">
                <a:latin typeface="Consolas"/>
                <a:ea typeface="Consolas"/>
                <a:cs typeface="Consolas"/>
                <a:sym typeface="Consolas"/>
              </a:rPr>
              <a:t>("2021-11-08T16:50:39.142Z"),</a:t>
            </a:r>
          </a:p>
          <a:p>
            <a:pPr lvl="0" rtl="0"/>
            <a:r>
              <a:rPr lang="en-US" sz="900" dirty="0">
                <a:latin typeface="Consolas"/>
                <a:ea typeface="Consolas"/>
                <a:cs typeface="Consolas"/>
                <a:sym typeface="Consolas"/>
              </a:rPr>
              <a:t>  "</a:t>
            </a:r>
            <a:r>
              <a:rPr lang="en-US" sz="900" dirty="0" err="1">
                <a:latin typeface="Consolas"/>
                <a:ea typeface="Consolas"/>
                <a:cs typeface="Consolas"/>
                <a:sym typeface="Consolas"/>
              </a:rPr>
              <a:t>processed_at</a:t>
            </a:r>
            <a:r>
              <a:rPr lang="en-US" sz="900" dirty="0">
                <a:latin typeface="Consolas"/>
                <a:ea typeface="Consolas"/>
                <a:cs typeface="Consolas"/>
                <a:sym typeface="Consolas"/>
              </a:rPr>
              <a:t>": </a:t>
            </a:r>
            <a:r>
              <a:rPr lang="en-US" sz="900" dirty="0" err="1">
                <a:latin typeface="Consolas"/>
                <a:ea typeface="Consolas"/>
                <a:cs typeface="Consolas"/>
                <a:sym typeface="Consolas"/>
              </a:rPr>
              <a:t>ISODate</a:t>
            </a:r>
            <a:r>
              <a:rPr lang="en-US" sz="900" dirty="0">
                <a:latin typeface="Consolas"/>
                <a:ea typeface="Consolas"/>
                <a:cs typeface="Consolas"/>
                <a:sym typeface="Consolas"/>
              </a:rPr>
              <a:t>("2024-03-10T14:29:00.000Z"),</a:t>
            </a:r>
          </a:p>
          <a:p>
            <a:pPr lvl="0" rtl="0"/>
            <a:r>
              <a:rPr lang="en-US" sz="900" dirty="0">
                <a:latin typeface="Consolas"/>
                <a:ea typeface="Consolas"/>
                <a:cs typeface="Consolas"/>
                <a:sym typeface="Consolas"/>
              </a:rPr>
              <a:t>  "</a:t>
            </a:r>
            <a:r>
              <a:rPr lang="en-US" sz="900" dirty="0" err="1">
                <a:latin typeface="Consolas"/>
                <a:ea typeface="Consolas"/>
                <a:cs typeface="Consolas"/>
                <a:sym typeface="Consolas"/>
              </a:rPr>
              <a:t>data_quality</a:t>
            </a:r>
            <a:r>
              <a:rPr lang="en-US" sz="900" dirty="0">
                <a:latin typeface="Consolas"/>
                <a:ea typeface="Consolas"/>
                <a:cs typeface="Consolas"/>
                <a:sym typeface="Consolas"/>
              </a:rPr>
              <a:t>": {</a:t>
            </a:r>
          </a:p>
          <a:p>
            <a:pPr lvl="0" rtl="0"/>
            <a:r>
              <a:rPr lang="en-US" sz="900" dirty="0">
                <a:latin typeface="Consolas"/>
                <a:ea typeface="Consolas"/>
                <a:cs typeface="Consolas"/>
                <a:sym typeface="Consolas"/>
              </a:rPr>
              <a:t>    "</a:t>
            </a:r>
            <a:r>
              <a:rPr lang="en-US" sz="900" dirty="0" err="1">
                <a:latin typeface="Consolas"/>
                <a:ea typeface="Consolas"/>
                <a:cs typeface="Consolas"/>
                <a:sym typeface="Consolas"/>
              </a:rPr>
              <a:t>price_valid</a:t>
            </a:r>
            <a:r>
              <a:rPr lang="en-US" sz="900" dirty="0">
                <a:latin typeface="Consolas"/>
                <a:ea typeface="Consolas"/>
                <a:cs typeface="Consolas"/>
                <a:sym typeface="Consolas"/>
              </a:rPr>
              <a:t>": true,</a:t>
            </a:r>
          </a:p>
          <a:p>
            <a:pPr lvl="0" rtl="0"/>
            <a:r>
              <a:rPr lang="en-US" sz="900" dirty="0">
                <a:latin typeface="Consolas"/>
                <a:ea typeface="Consolas"/>
                <a:cs typeface="Consolas"/>
                <a:sym typeface="Consolas"/>
              </a:rPr>
              <a:t>    "</a:t>
            </a:r>
            <a:r>
              <a:rPr lang="en-US" sz="900" dirty="0" err="1">
                <a:latin typeface="Consolas"/>
                <a:ea typeface="Consolas"/>
                <a:cs typeface="Consolas"/>
                <a:sym typeface="Consolas"/>
              </a:rPr>
              <a:t>outlier_flag</a:t>
            </a:r>
            <a:r>
              <a:rPr lang="en-US" sz="900" dirty="0">
                <a:latin typeface="Consolas"/>
                <a:ea typeface="Consolas"/>
                <a:cs typeface="Consolas"/>
                <a:sym typeface="Consolas"/>
              </a:rPr>
              <a:t>": false,</a:t>
            </a:r>
          </a:p>
          <a:p>
            <a:pPr lvl="0" rtl="0"/>
            <a:r>
              <a:rPr lang="en-US" sz="900" dirty="0">
                <a:latin typeface="Consolas"/>
                <a:ea typeface="Consolas"/>
                <a:cs typeface="Consolas"/>
                <a:sym typeface="Consolas"/>
              </a:rPr>
              <a:t>    "</a:t>
            </a:r>
            <a:r>
              <a:rPr lang="en-US" sz="900" dirty="0" err="1">
                <a:latin typeface="Consolas"/>
                <a:ea typeface="Consolas"/>
                <a:cs typeface="Consolas"/>
                <a:sym typeface="Consolas"/>
              </a:rPr>
              <a:t>cleaning_method</a:t>
            </a:r>
            <a:r>
              <a:rPr lang="en-US" sz="900" dirty="0">
                <a:latin typeface="Consolas"/>
                <a:ea typeface="Consolas"/>
                <a:cs typeface="Consolas"/>
                <a:sym typeface="Consolas"/>
              </a:rPr>
              <a:t>": "</a:t>
            </a:r>
            <a:r>
              <a:rPr lang="en-US" sz="900" dirty="0" err="1">
                <a:latin typeface="Consolas"/>
                <a:ea typeface="Consolas"/>
                <a:cs typeface="Consolas"/>
                <a:sym typeface="Consolas"/>
              </a:rPr>
              <a:t>IQR_filter</a:t>
            </a:r>
            <a:r>
              <a:rPr lang="en-US" sz="900" dirty="0">
                <a:latin typeface="Consolas"/>
                <a:ea typeface="Consolas"/>
                <a:cs typeface="Consolas"/>
                <a:sym typeface="Consolas"/>
              </a:rPr>
              <a:t>"</a:t>
            </a:r>
          </a:p>
          <a:p>
            <a:pPr lvl="0" rtl="0"/>
            <a:r>
              <a:rPr lang="en-US" sz="900" dirty="0">
                <a:latin typeface="Consolas"/>
                <a:ea typeface="Consolas"/>
                <a:cs typeface="Consolas"/>
                <a:sym typeface="Consolas"/>
              </a:rPr>
              <a:t>  }</a:t>
            </a:r>
          </a:p>
          <a:p>
            <a:pPr lvl="0" rtl="0"/>
            <a:r>
              <a:rPr lang="en-US" sz="900" dirty="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9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" name="Google Shape;201;p27"/>
          <p:cNvSpPr txBox="1"/>
          <p:nvPr/>
        </p:nvSpPr>
        <p:spPr>
          <a:xfrm>
            <a:off x="4598250" y="743011"/>
            <a:ext cx="4326600" cy="2677626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rtl="0"/>
            <a:r>
              <a:rPr lang="en-US" sz="900" dirty="0">
                <a:latin typeface="Consolas"/>
                <a:ea typeface="Consolas"/>
                <a:cs typeface="Consolas"/>
                <a:sym typeface="Consolas"/>
              </a:rPr>
              <a:t>from </a:t>
            </a:r>
            <a:r>
              <a:rPr lang="en-US" sz="900" dirty="0" err="1">
                <a:latin typeface="Consolas"/>
                <a:ea typeface="Consolas"/>
                <a:cs typeface="Consolas"/>
                <a:sym typeface="Consolas"/>
              </a:rPr>
              <a:t>pyspark.sql</a:t>
            </a:r>
            <a:r>
              <a:rPr lang="en-US" sz="900" dirty="0">
                <a:latin typeface="Consolas"/>
                <a:ea typeface="Consolas"/>
                <a:cs typeface="Consolas"/>
                <a:sym typeface="Consolas"/>
              </a:rPr>
              <a:t> import </a:t>
            </a:r>
            <a:r>
              <a:rPr lang="en-US" sz="900" dirty="0" err="1">
                <a:latin typeface="Consolas"/>
                <a:ea typeface="Consolas"/>
                <a:cs typeface="Consolas"/>
                <a:sym typeface="Consolas"/>
              </a:rPr>
              <a:t>SparkSession</a:t>
            </a:r>
            <a:endParaRPr lang="en-US" sz="900" dirty="0">
              <a:latin typeface="Consolas"/>
              <a:ea typeface="Consolas"/>
              <a:cs typeface="Consolas"/>
              <a:sym typeface="Consolas"/>
            </a:endParaRPr>
          </a:p>
          <a:p>
            <a:pPr lvl="0" rtl="0"/>
            <a:r>
              <a:rPr lang="en-US" sz="900" dirty="0">
                <a:latin typeface="Consolas"/>
                <a:ea typeface="Consolas"/>
                <a:cs typeface="Consolas"/>
                <a:sym typeface="Consolas"/>
              </a:rPr>
              <a:t>from </a:t>
            </a:r>
            <a:r>
              <a:rPr lang="en-US" sz="900" dirty="0" err="1">
                <a:latin typeface="Consolas"/>
                <a:ea typeface="Consolas"/>
                <a:cs typeface="Consolas"/>
                <a:sym typeface="Consolas"/>
              </a:rPr>
              <a:t>pyspark.sql.functions</a:t>
            </a:r>
            <a:r>
              <a:rPr lang="en-US" sz="900" dirty="0">
                <a:latin typeface="Consolas"/>
                <a:ea typeface="Consolas"/>
                <a:cs typeface="Consolas"/>
                <a:sym typeface="Consolas"/>
              </a:rPr>
              <a:t> import col, </a:t>
            </a:r>
            <a:r>
              <a:rPr lang="en-US" sz="900" dirty="0" err="1">
                <a:latin typeface="Consolas"/>
                <a:ea typeface="Consolas"/>
                <a:cs typeface="Consolas"/>
                <a:sym typeface="Consolas"/>
              </a:rPr>
              <a:t>regexp_replace</a:t>
            </a:r>
            <a:r>
              <a:rPr lang="en-US" sz="900" dirty="0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900" dirty="0" err="1">
                <a:latin typeface="Consolas"/>
                <a:ea typeface="Consolas"/>
                <a:cs typeface="Consolas"/>
                <a:sym typeface="Consolas"/>
              </a:rPr>
              <a:t>avg</a:t>
            </a:r>
            <a:endParaRPr lang="en-US" sz="900" dirty="0">
              <a:latin typeface="Consolas"/>
              <a:ea typeface="Consolas"/>
              <a:cs typeface="Consolas"/>
              <a:sym typeface="Consolas"/>
            </a:endParaRPr>
          </a:p>
          <a:p>
            <a:pPr lvl="0" rtl="0"/>
            <a:endParaRPr lang="en-US" sz="900" dirty="0">
              <a:latin typeface="Consolas"/>
              <a:ea typeface="Consolas"/>
              <a:cs typeface="Consolas"/>
              <a:sym typeface="Consolas"/>
            </a:endParaRPr>
          </a:p>
          <a:p>
            <a:pPr lvl="0" rtl="0"/>
            <a:r>
              <a:rPr lang="en-US" sz="900" dirty="0">
                <a:latin typeface="Consolas"/>
                <a:ea typeface="Consolas"/>
                <a:cs typeface="Consolas"/>
                <a:sym typeface="Consolas"/>
              </a:rPr>
              <a:t>spark = </a:t>
            </a:r>
            <a:r>
              <a:rPr lang="en-US" sz="900" dirty="0" err="1">
                <a:latin typeface="Consolas"/>
                <a:ea typeface="Consolas"/>
                <a:cs typeface="Consolas"/>
                <a:sym typeface="Consolas"/>
              </a:rPr>
              <a:t>SparkSession.builder.appName</a:t>
            </a:r>
            <a:r>
              <a:rPr lang="en-US" sz="900" dirty="0">
                <a:latin typeface="Consolas"/>
                <a:ea typeface="Consolas"/>
                <a:cs typeface="Consolas"/>
                <a:sym typeface="Consolas"/>
              </a:rPr>
              <a:t>("</a:t>
            </a:r>
            <a:r>
              <a:rPr lang="en-US" sz="900" dirty="0" err="1">
                <a:latin typeface="Consolas"/>
                <a:ea typeface="Consolas"/>
                <a:cs typeface="Consolas"/>
                <a:sym typeface="Consolas"/>
              </a:rPr>
              <a:t>MimovrsteAnalysis</a:t>
            </a:r>
            <a:r>
              <a:rPr lang="en-US" sz="900" dirty="0">
                <a:latin typeface="Consolas"/>
                <a:ea typeface="Consolas"/>
                <a:cs typeface="Consolas"/>
                <a:sym typeface="Consolas"/>
              </a:rPr>
              <a:t>").</a:t>
            </a:r>
            <a:r>
              <a:rPr lang="en-US" sz="900" dirty="0" err="1">
                <a:latin typeface="Consolas"/>
                <a:ea typeface="Consolas"/>
                <a:cs typeface="Consolas"/>
                <a:sym typeface="Consolas"/>
              </a:rPr>
              <a:t>getOrCreate</a:t>
            </a:r>
            <a:r>
              <a:rPr lang="en-US" sz="900" dirty="0">
                <a:latin typeface="Consolas"/>
                <a:ea typeface="Consolas"/>
                <a:cs typeface="Consolas"/>
                <a:sym typeface="Consolas"/>
              </a:rPr>
              <a:t>()</a:t>
            </a:r>
          </a:p>
          <a:p>
            <a:pPr lvl="0" rtl="0"/>
            <a:endParaRPr lang="en-US" sz="900" dirty="0">
              <a:latin typeface="Consolas"/>
              <a:ea typeface="Consolas"/>
              <a:cs typeface="Consolas"/>
              <a:sym typeface="Consolas"/>
            </a:endParaRPr>
          </a:p>
          <a:p>
            <a:pPr lvl="0" rtl="0"/>
            <a:r>
              <a:rPr lang="en-US" sz="900" dirty="0" err="1">
                <a:latin typeface="Consolas"/>
                <a:ea typeface="Consolas"/>
                <a:cs typeface="Consolas"/>
                <a:sym typeface="Consolas"/>
              </a:rPr>
              <a:t>df</a:t>
            </a:r>
            <a:r>
              <a:rPr lang="en-US" sz="900" dirty="0">
                <a:latin typeface="Consolas"/>
                <a:ea typeface="Consolas"/>
                <a:cs typeface="Consolas"/>
                <a:sym typeface="Consolas"/>
              </a:rPr>
              <a:t> = spark.read.csv("</a:t>
            </a:r>
            <a:r>
              <a:rPr lang="en-US" sz="900" dirty="0" err="1">
                <a:latin typeface="Consolas"/>
                <a:ea typeface="Consolas"/>
                <a:cs typeface="Consolas"/>
                <a:sym typeface="Consolas"/>
              </a:rPr>
              <a:t>hdfs</a:t>
            </a:r>
            <a:r>
              <a:rPr lang="en-US" sz="900" dirty="0">
                <a:latin typeface="Consolas"/>
                <a:ea typeface="Consolas"/>
                <a:cs typeface="Consolas"/>
                <a:sym typeface="Consolas"/>
              </a:rPr>
              <a:t>://path/to/mimodump-dataset.csv", header=True, </a:t>
            </a:r>
            <a:r>
              <a:rPr lang="en-US" sz="900" dirty="0" err="1">
                <a:latin typeface="Consolas"/>
                <a:ea typeface="Consolas"/>
                <a:cs typeface="Consolas"/>
                <a:sym typeface="Consolas"/>
              </a:rPr>
              <a:t>inferSchema</a:t>
            </a:r>
            <a:r>
              <a:rPr lang="en-US" sz="900" dirty="0">
                <a:latin typeface="Consolas"/>
                <a:ea typeface="Consolas"/>
                <a:cs typeface="Consolas"/>
                <a:sym typeface="Consolas"/>
              </a:rPr>
              <a:t>=True)</a:t>
            </a:r>
          </a:p>
          <a:p>
            <a:pPr lvl="0" rtl="0"/>
            <a:endParaRPr lang="en-US" sz="900" dirty="0">
              <a:latin typeface="Consolas"/>
              <a:ea typeface="Consolas"/>
              <a:cs typeface="Consolas"/>
              <a:sym typeface="Consolas"/>
            </a:endParaRPr>
          </a:p>
          <a:p>
            <a:pPr lvl="0" rtl="0"/>
            <a:r>
              <a:rPr lang="en-US" sz="900" dirty="0" err="1">
                <a:latin typeface="Consolas"/>
                <a:ea typeface="Consolas"/>
                <a:cs typeface="Consolas"/>
                <a:sym typeface="Consolas"/>
              </a:rPr>
              <a:t>df_cleaned</a:t>
            </a:r>
            <a:r>
              <a:rPr lang="en-US" sz="900" dirty="0"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900" dirty="0" err="1">
                <a:latin typeface="Consolas"/>
                <a:ea typeface="Consolas"/>
                <a:cs typeface="Consolas"/>
                <a:sym typeface="Consolas"/>
              </a:rPr>
              <a:t>df.withColumn</a:t>
            </a:r>
            <a:r>
              <a:rPr lang="en-US" sz="900" dirty="0">
                <a:latin typeface="Consolas"/>
                <a:ea typeface="Consolas"/>
                <a:cs typeface="Consolas"/>
                <a:sym typeface="Consolas"/>
              </a:rPr>
              <a:t>(</a:t>
            </a:r>
          </a:p>
          <a:p>
            <a:pPr lvl="0" rtl="0"/>
            <a:r>
              <a:rPr lang="en-US" sz="900" dirty="0">
                <a:latin typeface="Consolas"/>
                <a:ea typeface="Consolas"/>
                <a:cs typeface="Consolas"/>
                <a:sym typeface="Consolas"/>
              </a:rPr>
              <a:t>    "</a:t>
            </a:r>
            <a:r>
              <a:rPr lang="en-US" sz="900" dirty="0" err="1">
                <a:latin typeface="Consolas"/>
                <a:ea typeface="Consolas"/>
                <a:cs typeface="Consolas"/>
                <a:sym typeface="Consolas"/>
              </a:rPr>
              <a:t>price_clean</a:t>
            </a:r>
            <a:r>
              <a:rPr lang="en-US" sz="900" dirty="0">
                <a:latin typeface="Consolas"/>
                <a:ea typeface="Consolas"/>
                <a:cs typeface="Consolas"/>
                <a:sym typeface="Consolas"/>
              </a:rPr>
              <a:t>",</a:t>
            </a:r>
          </a:p>
          <a:p>
            <a:pPr lvl="0" rtl="0"/>
            <a:r>
              <a:rPr lang="en-US" sz="900" dirty="0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900" dirty="0" err="1">
                <a:latin typeface="Consolas"/>
                <a:ea typeface="Consolas"/>
                <a:cs typeface="Consolas"/>
                <a:sym typeface="Consolas"/>
              </a:rPr>
              <a:t>regexp_replace</a:t>
            </a:r>
            <a:r>
              <a:rPr lang="en-US" sz="900" dirty="0">
                <a:latin typeface="Consolas"/>
                <a:ea typeface="Consolas"/>
                <a:cs typeface="Consolas"/>
                <a:sym typeface="Consolas"/>
              </a:rPr>
              <a:t>(col("price"), ",", ".").cast("double")</a:t>
            </a:r>
          </a:p>
          <a:p>
            <a:pPr lvl="0" rtl="0"/>
            <a:r>
              <a:rPr lang="en-US" sz="900" dirty="0">
                <a:latin typeface="Consolas"/>
                <a:ea typeface="Consolas"/>
                <a:cs typeface="Consolas"/>
                <a:sym typeface="Consolas"/>
              </a:rPr>
              <a:t>)</a:t>
            </a:r>
          </a:p>
          <a:p>
            <a:pPr lvl="0" rtl="0"/>
            <a:r>
              <a:rPr lang="en-US" sz="900" dirty="0">
                <a:latin typeface="Consolas"/>
                <a:ea typeface="Consolas"/>
                <a:cs typeface="Consolas"/>
                <a:sym typeface="Consolas"/>
              </a:rPr>
              <a:t>result = </a:t>
            </a:r>
            <a:r>
              <a:rPr lang="en-US" sz="900" dirty="0" err="1">
                <a:latin typeface="Consolas"/>
                <a:ea typeface="Consolas"/>
                <a:cs typeface="Consolas"/>
                <a:sym typeface="Consolas"/>
              </a:rPr>
              <a:t>df_cleaned.groupBy</a:t>
            </a:r>
            <a:r>
              <a:rPr lang="en-US" sz="900" dirty="0">
                <a:latin typeface="Consolas"/>
                <a:ea typeface="Consolas"/>
                <a:cs typeface="Consolas"/>
                <a:sym typeface="Consolas"/>
              </a:rPr>
              <a:t>("</a:t>
            </a:r>
            <a:r>
              <a:rPr lang="en-US" sz="900" dirty="0" err="1">
                <a:latin typeface="Consolas"/>
                <a:ea typeface="Consolas"/>
                <a:cs typeface="Consolas"/>
                <a:sym typeface="Consolas"/>
              </a:rPr>
              <a:t>category_name</a:t>
            </a:r>
            <a:r>
              <a:rPr lang="en-US" sz="900" dirty="0">
                <a:latin typeface="Consolas"/>
                <a:ea typeface="Consolas"/>
                <a:cs typeface="Consolas"/>
                <a:sym typeface="Consolas"/>
              </a:rPr>
              <a:t>") \</a:t>
            </a:r>
          </a:p>
          <a:p>
            <a:pPr lvl="0" rtl="0"/>
            <a:r>
              <a:rPr lang="en-US" sz="900" dirty="0">
                <a:latin typeface="Consolas"/>
                <a:ea typeface="Consolas"/>
                <a:cs typeface="Consolas"/>
                <a:sym typeface="Consolas"/>
              </a:rPr>
              <a:t>                   .</a:t>
            </a:r>
            <a:r>
              <a:rPr lang="en-US" sz="900" dirty="0" err="1">
                <a:latin typeface="Consolas"/>
                <a:ea typeface="Consolas"/>
                <a:cs typeface="Consolas"/>
                <a:sym typeface="Consolas"/>
              </a:rPr>
              <a:t>agg</a:t>
            </a:r>
            <a:r>
              <a:rPr lang="en-US" sz="900" dirty="0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900" dirty="0" err="1">
                <a:latin typeface="Consolas"/>
                <a:ea typeface="Consolas"/>
                <a:cs typeface="Consolas"/>
                <a:sym typeface="Consolas"/>
              </a:rPr>
              <a:t>avg</a:t>
            </a:r>
            <a:r>
              <a:rPr lang="en-US" sz="900" dirty="0">
                <a:latin typeface="Consolas"/>
                <a:ea typeface="Consolas"/>
                <a:cs typeface="Consolas"/>
                <a:sym typeface="Consolas"/>
              </a:rPr>
              <a:t>("</a:t>
            </a:r>
            <a:r>
              <a:rPr lang="en-US" sz="900" dirty="0" err="1">
                <a:latin typeface="Consolas"/>
                <a:ea typeface="Consolas"/>
                <a:cs typeface="Consolas"/>
                <a:sym typeface="Consolas"/>
              </a:rPr>
              <a:t>price_clean</a:t>
            </a:r>
            <a:r>
              <a:rPr lang="en-US" sz="900" dirty="0">
                <a:latin typeface="Consolas"/>
                <a:ea typeface="Consolas"/>
                <a:cs typeface="Consolas"/>
                <a:sym typeface="Consolas"/>
              </a:rPr>
              <a:t>").alias("</a:t>
            </a:r>
            <a:r>
              <a:rPr lang="en-US" sz="900" dirty="0" err="1">
                <a:latin typeface="Consolas"/>
                <a:ea typeface="Consolas"/>
                <a:cs typeface="Consolas"/>
                <a:sym typeface="Consolas"/>
              </a:rPr>
              <a:t>avg_price</a:t>
            </a:r>
            <a:r>
              <a:rPr lang="en-US" sz="900" dirty="0">
                <a:latin typeface="Consolas"/>
                <a:ea typeface="Consolas"/>
                <a:cs typeface="Consolas"/>
                <a:sym typeface="Consolas"/>
              </a:rPr>
              <a:t>")) \</a:t>
            </a:r>
          </a:p>
          <a:p>
            <a:pPr lvl="0" rtl="0"/>
            <a:r>
              <a:rPr lang="en-US" sz="900" dirty="0">
                <a:latin typeface="Consolas"/>
                <a:ea typeface="Consolas"/>
                <a:cs typeface="Consolas"/>
                <a:sym typeface="Consolas"/>
              </a:rPr>
              <a:t>                   .</a:t>
            </a:r>
            <a:r>
              <a:rPr lang="en-US" sz="900" dirty="0" err="1">
                <a:latin typeface="Consolas"/>
                <a:ea typeface="Consolas"/>
                <a:cs typeface="Consolas"/>
                <a:sym typeface="Consolas"/>
              </a:rPr>
              <a:t>orderBy</a:t>
            </a:r>
            <a:r>
              <a:rPr lang="en-US" sz="900" dirty="0">
                <a:latin typeface="Consolas"/>
                <a:ea typeface="Consolas"/>
                <a:cs typeface="Consolas"/>
                <a:sym typeface="Consolas"/>
              </a:rPr>
              <a:t>(col("</a:t>
            </a:r>
            <a:r>
              <a:rPr lang="en-US" sz="900" dirty="0" err="1">
                <a:latin typeface="Consolas"/>
                <a:ea typeface="Consolas"/>
                <a:cs typeface="Consolas"/>
                <a:sym typeface="Consolas"/>
              </a:rPr>
              <a:t>avg_price</a:t>
            </a:r>
            <a:r>
              <a:rPr lang="en-US" sz="900" dirty="0">
                <a:latin typeface="Consolas"/>
                <a:ea typeface="Consolas"/>
                <a:cs typeface="Consolas"/>
                <a:sym typeface="Consolas"/>
              </a:rPr>
              <a:t>").</a:t>
            </a:r>
            <a:r>
              <a:rPr lang="en-US" sz="900" dirty="0" err="1">
                <a:latin typeface="Consolas"/>
                <a:ea typeface="Consolas"/>
                <a:cs typeface="Consolas"/>
                <a:sym typeface="Consolas"/>
              </a:rPr>
              <a:t>desc</a:t>
            </a:r>
            <a:r>
              <a:rPr lang="en-US" sz="900" dirty="0">
                <a:latin typeface="Consolas"/>
                <a:ea typeface="Consolas"/>
                <a:cs typeface="Consolas"/>
                <a:sym typeface="Consolas"/>
              </a:rPr>
              <a:t>())</a:t>
            </a:r>
          </a:p>
          <a:p>
            <a:pPr lvl="0" rtl="0"/>
            <a:endParaRPr lang="en-US" sz="900" dirty="0">
              <a:latin typeface="Consolas"/>
              <a:ea typeface="Consolas"/>
              <a:cs typeface="Consolas"/>
              <a:sym typeface="Consolas"/>
            </a:endParaRPr>
          </a:p>
          <a:p>
            <a:pPr lvl="0" rtl="0"/>
            <a:r>
              <a:rPr lang="en-US" sz="900" dirty="0" err="1">
                <a:latin typeface="Consolas"/>
                <a:ea typeface="Consolas"/>
                <a:cs typeface="Consolas"/>
                <a:sym typeface="Consolas"/>
              </a:rPr>
              <a:t>result.show</a:t>
            </a:r>
            <a:r>
              <a:rPr lang="en-US" sz="900" dirty="0">
                <a:latin typeface="Consolas"/>
                <a:ea typeface="Consolas"/>
                <a:cs typeface="Consolas"/>
                <a:sym typeface="Consolas"/>
              </a:rPr>
              <a:t>()</a:t>
            </a:r>
            <a:endParaRPr sz="900"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7643726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 algn="ctr" rtl="0"/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GitHub</a:t>
            </a:r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4265" y="645923"/>
            <a:ext cx="6434570" cy="4497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107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Используемые инструменты</a:t>
            </a:r>
          </a:p>
        </p:txBody>
      </p:sp>
      <p:sp>
        <p:nvSpPr>
          <p:cNvPr id="5" name="Google Shape;89;p15"/>
          <p:cNvSpPr txBox="1"/>
          <p:nvPr/>
        </p:nvSpPr>
        <p:spPr bwMode="auto">
          <a:xfrm>
            <a:off x="207468" y="692309"/>
            <a:ext cx="8813161" cy="3473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defRPr/>
            </a:pPr>
            <a:r>
              <a:rPr lang="ru-RU" sz="2000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Язык программирования</a:t>
            </a:r>
            <a:r>
              <a:rPr lang="en-US" sz="2000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000" b="1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defRPr/>
            </a:pP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3.9+ - 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Экосистема библиотек для анализа данных</a:t>
            </a:r>
          </a:p>
          <a:p>
            <a:pPr lvl="0">
              <a:defRPr/>
            </a:pPr>
            <a:r>
              <a:rPr lang="ru-RU" sz="2000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Обработка данных</a:t>
            </a:r>
            <a:r>
              <a:rPr lang="en-US" sz="2000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000" b="1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defRPr/>
            </a:pP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Pandas, 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Работа с табличными данными, векторизованные операции</a:t>
            </a:r>
          </a:p>
          <a:p>
            <a:pPr lvl="0">
              <a:defRPr/>
            </a:pPr>
            <a:r>
              <a:rPr lang="ru-RU" sz="2000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Визуализация</a:t>
            </a:r>
            <a:r>
              <a:rPr lang="en-US" sz="2000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000" b="1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defRPr/>
            </a:pPr>
            <a:r>
              <a:rPr lang="en-US" sz="2000" dirty="0" err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Seaborn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Гибкость настройки, экспорт в высокое разрешение</a:t>
            </a:r>
          </a:p>
          <a:p>
            <a:pPr lvl="0">
              <a:defRPr/>
            </a:pPr>
            <a:r>
              <a:rPr lang="ru-RU" sz="2000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Хранение промежуточных данных</a:t>
            </a:r>
            <a:r>
              <a:rPr lang="en-US" sz="2000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000" b="1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defRPr/>
            </a:pP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Apache Parquet (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zstd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Высокая степень сжатия, быстрый доступ к колонкам</a:t>
            </a:r>
          </a:p>
          <a:p>
            <a:pPr lvl="0">
              <a:defRPr/>
            </a:pPr>
            <a:r>
              <a:rPr lang="ru-RU" sz="2000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контроля версий</a:t>
            </a:r>
            <a:r>
              <a:rPr lang="en-US" sz="2000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000" b="1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defRPr/>
            </a:pP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Отслеживание изменений, возможность совместной работы, </a:t>
            </a:r>
            <a:r>
              <a:rPr lang="ru-RU" sz="2000" dirty="0" err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воспроизводимость</a:t>
            </a:r>
            <a:endParaRPr sz="2000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ea typeface="Roboto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83327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Программная реализация проекта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 smtClean="0"/>
              <a:t>15</a:t>
            </a:fld>
            <a:endParaRPr lang="ru"/>
          </a:p>
        </p:txBody>
      </p:sp>
      <p:sp>
        <p:nvSpPr>
          <p:cNvPr id="4" name="Прямоугольник 3"/>
          <p:cNvSpPr/>
          <p:nvPr/>
        </p:nvSpPr>
        <p:spPr>
          <a:xfrm>
            <a:off x="108230" y="4046991"/>
            <a:ext cx="8862505" cy="1288558"/>
          </a:xfrm>
          <a:prstGeom prst="rect">
            <a:avLst/>
          </a:prstGeom>
        </p:spPr>
        <p:txBody>
          <a:bodyPr wrap="square" numCol="2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ru-RU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Был создан </a:t>
            </a:r>
            <a:r>
              <a:rPr lang="ru-RU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интерактивный аналитический </a:t>
            </a:r>
            <a:r>
              <a:rPr lang="ru-RU" b="1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дашборд</a:t>
            </a:r>
            <a:r>
              <a:rPr lang="ru-RU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на </a:t>
            </a:r>
            <a:r>
              <a:rPr lang="en-US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Python</a:t>
            </a:r>
            <a:r>
              <a:rPr lang="ru-RU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Streamlit</a:t>
            </a:r>
            <a:r>
              <a:rPr lang="ru-RU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для анализа ассортимента </a:t>
            </a:r>
            <a:r>
              <a:rPr lang="en-US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ru-RU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en-US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commerce</a:t>
            </a:r>
            <a:r>
              <a:rPr lang="ru-RU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endParaRPr lang="ru-RU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ru-RU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Техническая реализация </a:t>
            </a:r>
            <a:r>
              <a:rPr lang="ru-RU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</a:t>
            </a:r>
            <a:r>
              <a:rPr lang="ru-RU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автоустановка</a:t>
            </a:r>
            <a:r>
              <a:rPr lang="ru-RU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зависимостей, кэширование данных, оптимизация работы с большими </a:t>
            </a:r>
            <a:r>
              <a:rPr lang="en-US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CSV</a:t>
            </a:r>
            <a:r>
              <a:rPr lang="ru-RU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-файлами и адаптивный интерфейс. 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507" y="684408"/>
            <a:ext cx="7859486" cy="329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0603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Инфраструктура разработки интерактивного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дашборда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 smtClean="0"/>
              <a:t>16</a:t>
            </a:fld>
            <a:endParaRPr lang="ru"/>
          </a:p>
        </p:txBody>
      </p:sp>
      <p:sp>
        <p:nvSpPr>
          <p:cNvPr id="5" name="Прямоугольник 4"/>
          <p:cNvSpPr/>
          <p:nvPr/>
        </p:nvSpPr>
        <p:spPr>
          <a:xfrm>
            <a:off x="203199" y="827315"/>
            <a:ext cx="8320341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ru-RU" sz="1800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Среда разработки:</a:t>
            </a:r>
          </a:p>
          <a:p>
            <a:pPr lvl="0">
              <a:defRPr/>
            </a:pPr>
            <a:r>
              <a:rPr lang="ru-RU" sz="1800" dirty="0" err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Windows</a:t>
            </a:r>
            <a:r>
              <a:rPr lang="ru-RU" sz="18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ru-RU" sz="1800" dirty="0" err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PowerShell</a:t>
            </a:r>
            <a:r>
              <a:rPr lang="ru-RU" sz="18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текстовый редактор/IDE для кода</a:t>
            </a:r>
          </a:p>
          <a:p>
            <a:pPr lvl="0">
              <a:defRPr/>
            </a:pPr>
            <a:r>
              <a:rPr lang="ru-RU" sz="1800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Данные:</a:t>
            </a:r>
          </a:p>
          <a:p>
            <a:pPr lvl="0">
              <a:defRPr/>
            </a:pPr>
            <a:r>
              <a:rPr lang="ru-RU" sz="18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Локальный диск O:\, CSV 67 ГБ, облако Mail.ru для доставки</a:t>
            </a:r>
            <a:endParaRPr lang="ru-RU" sz="1800" b="1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defRPr/>
            </a:pPr>
            <a:r>
              <a:rPr lang="ru-RU" sz="1800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Среда выполнения:</a:t>
            </a:r>
          </a:p>
          <a:p>
            <a:pPr lvl="0">
              <a:defRPr/>
            </a:pPr>
            <a:r>
              <a:rPr lang="ru-RU" sz="18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Локальный сервер </a:t>
            </a:r>
            <a:r>
              <a:rPr lang="ru-RU" sz="1800" dirty="0" err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ru-RU" sz="18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(localhost:8501)</a:t>
            </a:r>
          </a:p>
          <a:p>
            <a:pPr lvl="0">
              <a:defRPr/>
            </a:pPr>
            <a:r>
              <a:rPr lang="ru-RU" sz="1800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Автоматизация:</a:t>
            </a:r>
          </a:p>
          <a:p>
            <a:pPr lvl="0">
              <a:defRPr/>
            </a:pPr>
            <a:r>
              <a:rPr lang="ru-RU" sz="18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START.bat с автопроверкой </a:t>
            </a:r>
            <a:r>
              <a:rPr lang="ru-RU" sz="1800" dirty="0" err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18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установкой библиотек</a:t>
            </a:r>
          </a:p>
          <a:p>
            <a:pPr lvl="0">
              <a:defRPr/>
            </a:pPr>
            <a:r>
              <a:rPr lang="ru-RU" sz="1800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Дистрибуция:</a:t>
            </a:r>
          </a:p>
          <a:p>
            <a:pPr lvl="0">
              <a:defRPr/>
            </a:pPr>
            <a:r>
              <a:rPr lang="ru-RU" sz="18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ZIP-архив с готовым к запуску проектом</a:t>
            </a:r>
            <a:endParaRPr lang="ru-RU" sz="1800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ea typeface="Roboto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48267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Статистические методы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 smtClean="0"/>
              <a:t>17</a:t>
            </a:fld>
            <a:endParaRPr lang="ru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974097"/>
              </p:ext>
            </p:extLst>
          </p:nvPr>
        </p:nvGraphicFramePr>
        <p:xfrm>
          <a:off x="-1" y="674915"/>
          <a:ext cx="9144000" cy="4468583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9531"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Задача</a:t>
                      </a:r>
                    </a:p>
                  </a:txBody>
                  <a:tcPr marL="79630" marR="79630" marT="36752" marB="36752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Метод</a:t>
                      </a:r>
                    </a:p>
                  </a:txBody>
                  <a:tcPr marL="79630" marR="79630" marT="36752" marB="36752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Описание</a:t>
                      </a:r>
                    </a:p>
                  </a:txBody>
                  <a:tcPr marL="79630" marR="79630" marT="36752" marB="36752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302"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Динамика цен</a:t>
                      </a:r>
                      <a:endParaRPr lang="ru-RU" sz="16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9630" marR="79630" marT="36752" marB="36752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Группировка и агрегация</a:t>
                      </a:r>
                    </a:p>
                  </a:txBody>
                  <a:tcPr marL="79630" marR="79630" marT="36752" marB="36752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Расчет средних цен по категориям за 2021-2023 гг.</a:t>
                      </a:r>
                    </a:p>
                  </a:txBody>
                  <a:tcPr marL="79630" marR="79630" marT="36752" marB="36752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2366">
                <a:tc>
                  <a:txBody>
                    <a:bodyPr/>
                    <a:lstStyle/>
                    <a:p>
                      <a:pPr algn="l"/>
                      <a:r>
                        <a:rPr lang="ru-RU" sz="1600" b="1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Сезонность</a:t>
                      </a:r>
                      <a:endParaRPr lang="ru-RU" sz="16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9630" marR="79630" marT="36752" marB="36752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Временной ряд</a:t>
                      </a:r>
                    </a:p>
                  </a:txBody>
                  <a:tcPr marL="79630" marR="79630" marT="36752" marB="36752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Анализ колебаний цен по месяцам (выявление пиков и спадов).</a:t>
                      </a:r>
                    </a:p>
                  </a:txBody>
                  <a:tcPr marL="79630" marR="79630" marT="36752" marB="36752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5414">
                <a:tc>
                  <a:txBody>
                    <a:bodyPr/>
                    <a:lstStyle/>
                    <a:p>
                      <a:pPr algn="l"/>
                      <a:r>
                        <a:rPr lang="ru-RU" sz="1600" b="1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ИПЦ</a:t>
                      </a:r>
                      <a:endParaRPr lang="ru-RU" sz="16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9630" marR="79630" marT="36752" marB="36752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Базисный индекс</a:t>
                      </a:r>
                    </a:p>
                  </a:txBody>
                  <a:tcPr marL="79630" marR="79630" marT="36752" marB="36752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Расчет индекса потребительских цен (База: Янв 2021 = 100).</a:t>
                      </a:r>
                    </a:p>
                  </a:txBody>
                  <a:tcPr marL="79630" marR="79630" marT="36752" marB="36752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302">
                <a:tc>
                  <a:txBody>
                    <a:bodyPr/>
                    <a:lstStyle/>
                    <a:p>
                      <a:pPr algn="l"/>
                      <a:r>
                        <a:rPr lang="ru-RU" sz="1600" b="1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Волатильность</a:t>
                      </a:r>
                      <a:endParaRPr lang="ru-RU" sz="16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9630" marR="79630" marT="36752" marB="36752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Коэффициент вариации (</a:t>
                      </a:r>
                      <a:r>
                        <a:rPr lang="en-US" sz="16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CV)</a:t>
                      </a:r>
                    </a:p>
                  </a:txBody>
                  <a:tcPr marL="79630" marR="79630" marT="36752" marB="36752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Оценка стабильности цен: </a:t>
                      </a:r>
                      <a:r>
                        <a:rPr lang="en-US" sz="16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CV=</a:t>
                      </a:r>
                      <a:r>
                        <a:rPr lang="el-GR" sz="16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σμ×100</a:t>
                      </a:r>
                    </a:p>
                  </a:txBody>
                  <a:tcPr marL="79630" marR="79630" marT="36752" marB="36752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302">
                <a:tc>
                  <a:txBody>
                    <a:bodyPr/>
                    <a:lstStyle/>
                    <a:p>
                      <a:pPr algn="l"/>
                      <a:r>
                        <a:rPr lang="ru-RU" sz="1600" b="1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Выбросы</a:t>
                      </a:r>
                      <a:endParaRPr lang="ru-RU" sz="16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9630" marR="79630" marT="36752" marB="36752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IQR (Interquartile Range)</a:t>
                      </a:r>
                    </a:p>
                  </a:txBody>
                  <a:tcPr marL="79630" marR="79630" marT="36752" marB="36752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Метод Тьюки для поиска аномальных цен (1.5×IQR).</a:t>
                      </a:r>
                    </a:p>
                  </a:txBody>
                  <a:tcPr marL="79630" marR="79630" marT="36752" marB="36752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12366">
                <a:tc>
                  <a:txBody>
                    <a:bodyPr/>
                    <a:lstStyle/>
                    <a:p>
                      <a:pPr algn="l"/>
                      <a:r>
                        <a:rPr lang="ru-RU" sz="1600" b="1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Индекс Ласпейреса</a:t>
                      </a:r>
                      <a:endParaRPr lang="ru-RU" sz="16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9630" marR="79630" marT="36752" marB="36752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Взвешенный индекс</a:t>
                      </a:r>
                    </a:p>
                  </a:txBody>
                  <a:tcPr marL="79630" marR="79630" marT="36752" marB="36752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Расчет с учетом структуры корзины (весов) базисного периода.</a:t>
                      </a:r>
                    </a:p>
                  </a:txBody>
                  <a:tcPr marL="79630" marR="79630" marT="36752" marB="36752" anchor="ctr">
                    <a:lnL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4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23203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работы кода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 smtClean="0"/>
              <a:t>18</a:t>
            </a:fld>
            <a:endParaRPr lang="ru"/>
          </a:p>
        </p:txBody>
      </p:sp>
      <p:sp>
        <p:nvSpPr>
          <p:cNvPr id="4" name="Google Shape;201;p27"/>
          <p:cNvSpPr txBox="1"/>
          <p:nvPr/>
        </p:nvSpPr>
        <p:spPr>
          <a:xfrm>
            <a:off x="0" y="670440"/>
            <a:ext cx="4424850" cy="1877407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rtl="0"/>
            <a:r>
              <a:rPr lang="ru-RU" sz="1000" dirty="0">
                <a:latin typeface="Consolas"/>
                <a:ea typeface="Consolas"/>
                <a:cs typeface="Consolas"/>
                <a:sym typeface="Consolas"/>
              </a:rPr>
              <a:t>АНАЛИЗ ДИНАМИКИ ЦЕН ПО КАТЕГОРИЯМ</a:t>
            </a:r>
          </a:p>
          <a:p>
            <a:pPr lvl="0" rtl="0"/>
            <a:r>
              <a:rPr lang="ru-RU" sz="1000" dirty="0">
                <a:latin typeface="Consolas"/>
                <a:ea typeface="Consolas"/>
                <a:cs typeface="Consolas"/>
                <a:sym typeface="Consolas"/>
              </a:rPr>
              <a:t> 📈 </a:t>
            </a:r>
            <a:r>
              <a:rPr lang="en-US" sz="1000" dirty="0" err="1">
                <a:latin typeface="Consolas"/>
                <a:ea typeface="Consolas"/>
                <a:cs typeface="Consolas"/>
                <a:sym typeface="Consolas"/>
              </a:rPr>
              <a:t>otroska</a:t>
            </a:r>
            <a:r>
              <a:rPr lang="en-US" sz="10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00" dirty="0" err="1">
                <a:latin typeface="Consolas"/>
                <a:ea typeface="Consolas"/>
                <a:cs typeface="Consolas"/>
                <a:sym typeface="Consolas"/>
              </a:rPr>
              <a:t>obutev</a:t>
            </a:r>
            <a:r>
              <a:rPr lang="en-US" sz="1000" dirty="0">
                <a:latin typeface="Consolas"/>
                <a:ea typeface="Consolas"/>
                <a:cs typeface="Consolas"/>
                <a:sym typeface="Consolas"/>
              </a:rPr>
              <a:t>       : </a:t>
            </a:r>
            <a:r>
              <a:rPr lang="ru-RU" sz="1000" dirty="0">
                <a:latin typeface="Consolas"/>
                <a:ea typeface="Consolas"/>
                <a:cs typeface="Consolas"/>
                <a:sym typeface="Consolas"/>
              </a:rPr>
              <a:t>рост +85.5% (35.78 → 66.37 €)</a:t>
            </a:r>
          </a:p>
          <a:p>
            <a:pPr lvl="0" rtl="0"/>
            <a:r>
              <a:rPr lang="ru-RU" sz="1000" dirty="0">
                <a:latin typeface="Consolas"/>
                <a:ea typeface="Consolas"/>
                <a:cs typeface="Consolas"/>
                <a:sym typeface="Consolas"/>
              </a:rPr>
              <a:t> 📈 </a:t>
            </a:r>
            <a:r>
              <a:rPr lang="en-US" sz="1000" dirty="0" err="1">
                <a:latin typeface="Consolas"/>
                <a:ea typeface="Consolas"/>
                <a:cs typeface="Consolas"/>
                <a:sym typeface="Consolas"/>
              </a:rPr>
              <a:t>erotika</a:t>
            </a:r>
            <a:r>
              <a:rPr lang="en-US" sz="1000" dirty="0">
                <a:latin typeface="Consolas"/>
                <a:ea typeface="Consolas"/>
                <a:cs typeface="Consolas"/>
                <a:sym typeface="Consolas"/>
              </a:rPr>
              <a:t>              : </a:t>
            </a:r>
            <a:r>
              <a:rPr lang="ru-RU" sz="1000" dirty="0">
                <a:latin typeface="Consolas"/>
                <a:ea typeface="Consolas"/>
                <a:cs typeface="Consolas"/>
                <a:sym typeface="Consolas"/>
              </a:rPr>
              <a:t>рост +111.6% (39.78 → 84.19 €)</a:t>
            </a:r>
          </a:p>
          <a:p>
            <a:pPr lvl="0" rtl="0"/>
            <a:r>
              <a:rPr lang="ru-RU" sz="1000" dirty="0">
                <a:latin typeface="Consolas"/>
                <a:ea typeface="Consolas"/>
                <a:cs typeface="Consolas"/>
                <a:sym typeface="Consolas"/>
              </a:rPr>
              <a:t> 📈 </a:t>
            </a:r>
            <a:r>
              <a:rPr lang="en-US" sz="1000" dirty="0" err="1">
                <a:latin typeface="Consolas"/>
                <a:ea typeface="Consolas"/>
                <a:cs typeface="Consolas"/>
                <a:sym typeface="Consolas"/>
              </a:rPr>
              <a:t>vsa</a:t>
            </a:r>
            <a:r>
              <a:rPr lang="en-US" sz="10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00" dirty="0" err="1">
                <a:latin typeface="Consolas"/>
                <a:ea typeface="Consolas"/>
                <a:cs typeface="Consolas"/>
                <a:sym typeface="Consolas"/>
              </a:rPr>
              <a:t>obutev</a:t>
            </a:r>
            <a:r>
              <a:rPr lang="en-US" sz="1000" dirty="0">
                <a:latin typeface="Consolas"/>
                <a:ea typeface="Consolas"/>
                <a:cs typeface="Consolas"/>
                <a:sym typeface="Consolas"/>
              </a:rPr>
              <a:t>           : </a:t>
            </a:r>
            <a:r>
              <a:rPr lang="ru-RU" sz="1000" dirty="0">
                <a:latin typeface="Consolas"/>
                <a:ea typeface="Consolas"/>
                <a:cs typeface="Consolas"/>
                <a:sym typeface="Consolas"/>
              </a:rPr>
              <a:t>рост -11.5% (116.64 → 103.19 €)</a:t>
            </a:r>
          </a:p>
          <a:p>
            <a:pPr lvl="0" rtl="0"/>
            <a:r>
              <a:rPr lang="ru-RU" sz="1000" dirty="0">
                <a:latin typeface="Consolas"/>
                <a:ea typeface="Consolas"/>
                <a:cs typeface="Consolas"/>
                <a:sym typeface="Consolas"/>
              </a:rPr>
              <a:t> 📈 </a:t>
            </a:r>
            <a:r>
              <a:rPr lang="en-US" sz="1000" dirty="0" err="1">
                <a:latin typeface="Consolas"/>
                <a:ea typeface="Consolas"/>
                <a:cs typeface="Consolas"/>
                <a:sym typeface="Consolas"/>
              </a:rPr>
              <a:t>modne</a:t>
            </a:r>
            <a:r>
              <a:rPr lang="en-US" sz="10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00" dirty="0" err="1">
                <a:latin typeface="Consolas"/>
                <a:ea typeface="Consolas"/>
                <a:cs typeface="Consolas"/>
                <a:sym typeface="Consolas"/>
              </a:rPr>
              <a:t>ure</a:t>
            </a:r>
            <a:r>
              <a:rPr lang="en-US" sz="1000" dirty="0">
                <a:latin typeface="Consolas"/>
                <a:ea typeface="Consolas"/>
                <a:cs typeface="Consolas"/>
                <a:sym typeface="Consolas"/>
              </a:rPr>
              <a:t>             : </a:t>
            </a:r>
            <a:r>
              <a:rPr lang="ru-RU" sz="1000" dirty="0">
                <a:latin typeface="Consolas"/>
                <a:ea typeface="Consolas"/>
                <a:cs typeface="Consolas"/>
                <a:sym typeface="Consolas"/>
              </a:rPr>
              <a:t>рост +7.8% (116.07 → 125.17 €)</a:t>
            </a:r>
          </a:p>
          <a:p>
            <a:pPr lvl="0" rtl="0"/>
            <a:r>
              <a:rPr lang="ru-RU" sz="1000" dirty="0">
                <a:latin typeface="Consolas"/>
                <a:ea typeface="Consolas"/>
                <a:cs typeface="Consolas"/>
                <a:sym typeface="Consolas"/>
              </a:rPr>
              <a:t> 📈 </a:t>
            </a:r>
            <a:r>
              <a:rPr lang="en-US" sz="1000" dirty="0" err="1">
                <a:latin typeface="Consolas"/>
                <a:ea typeface="Consolas"/>
                <a:cs typeface="Consolas"/>
                <a:sym typeface="Consolas"/>
              </a:rPr>
              <a:t>vrtno</a:t>
            </a:r>
            <a:r>
              <a:rPr lang="en-US" sz="10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00" dirty="0" err="1">
                <a:latin typeface="Consolas"/>
                <a:ea typeface="Consolas"/>
                <a:cs typeface="Consolas"/>
                <a:sym typeface="Consolas"/>
              </a:rPr>
              <a:t>pohistvo</a:t>
            </a:r>
            <a:r>
              <a:rPr lang="en-US" sz="1000" dirty="0">
                <a:latin typeface="Consolas"/>
                <a:ea typeface="Consolas"/>
                <a:cs typeface="Consolas"/>
                <a:sym typeface="Consolas"/>
              </a:rPr>
              <a:t>        : </a:t>
            </a:r>
            <a:r>
              <a:rPr lang="ru-RU" sz="1000" dirty="0">
                <a:latin typeface="Consolas"/>
                <a:ea typeface="Consolas"/>
                <a:cs typeface="Consolas"/>
                <a:sym typeface="Consolas"/>
              </a:rPr>
              <a:t>рост -37.6% (198.80 → 124.04 €)</a:t>
            </a:r>
          </a:p>
          <a:p>
            <a:pPr lvl="0" rtl="0"/>
            <a:r>
              <a:rPr lang="ru-RU" sz="1000" dirty="0">
                <a:latin typeface="Consolas"/>
                <a:ea typeface="Consolas"/>
                <a:cs typeface="Consolas"/>
                <a:sym typeface="Consolas"/>
              </a:rPr>
              <a:t> 📈 </a:t>
            </a:r>
            <a:r>
              <a:rPr lang="en-US" sz="1000" dirty="0" err="1">
                <a:latin typeface="Consolas"/>
                <a:ea typeface="Consolas"/>
                <a:cs typeface="Consolas"/>
                <a:sym typeface="Consolas"/>
              </a:rPr>
              <a:t>majice</a:t>
            </a:r>
            <a:r>
              <a:rPr lang="en-US" sz="10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00" dirty="0" err="1">
                <a:latin typeface="Consolas"/>
                <a:ea typeface="Consolas"/>
                <a:cs typeface="Consolas"/>
                <a:sym typeface="Consolas"/>
              </a:rPr>
              <a:t>otroske</a:t>
            </a:r>
            <a:r>
              <a:rPr lang="en-US" sz="1000" dirty="0">
                <a:latin typeface="Consolas"/>
                <a:ea typeface="Consolas"/>
                <a:cs typeface="Consolas"/>
                <a:sym typeface="Consolas"/>
              </a:rPr>
              <a:t>          : </a:t>
            </a:r>
            <a:r>
              <a:rPr lang="ru-RU" sz="1000" dirty="0">
                <a:latin typeface="Consolas"/>
                <a:ea typeface="Consolas"/>
                <a:cs typeface="Consolas"/>
                <a:sym typeface="Consolas"/>
              </a:rPr>
              <a:t>рост +3.1% (15.66 → 16.14 €)</a:t>
            </a:r>
          </a:p>
          <a:p>
            <a:pPr lvl="0" rtl="0"/>
            <a:r>
              <a:rPr lang="ru-RU" sz="1000" dirty="0">
                <a:latin typeface="Consolas"/>
                <a:ea typeface="Consolas"/>
                <a:cs typeface="Consolas"/>
                <a:sym typeface="Consolas"/>
              </a:rPr>
              <a:t> 📈 </a:t>
            </a:r>
            <a:r>
              <a:rPr lang="en-US" sz="1000" dirty="0" err="1">
                <a:latin typeface="Consolas"/>
                <a:ea typeface="Consolas"/>
                <a:cs typeface="Consolas"/>
                <a:sym typeface="Consolas"/>
              </a:rPr>
              <a:t>otroske</a:t>
            </a:r>
            <a:r>
              <a:rPr lang="en-US" sz="10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00" dirty="0" err="1">
                <a:latin typeface="Consolas"/>
                <a:ea typeface="Consolas"/>
                <a:cs typeface="Consolas"/>
                <a:sym typeface="Consolas"/>
              </a:rPr>
              <a:t>kavbojke</a:t>
            </a:r>
            <a:r>
              <a:rPr lang="en-US" sz="1000" dirty="0">
                <a:latin typeface="Consolas"/>
                <a:ea typeface="Consolas"/>
                <a:cs typeface="Consolas"/>
                <a:sym typeface="Consolas"/>
              </a:rPr>
              <a:t> in </a:t>
            </a:r>
            <a:r>
              <a:rPr lang="en-US" sz="1000" dirty="0" err="1">
                <a:latin typeface="Consolas"/>
                <a:ea typeface="Consolas"/>
                <a:cs typeface="Consolas"/>
                <a:sym typeface="Consolas"/>
              </a:rPr>
              <a:t>hlace</a:t>
            </a:r>
            <a:r>
              <a:rPr lang="en-US" sz="1000" dirty="0"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ru-RU" sz="1000" dirty="0">
                <a:latin typeface="Consolas"/>
                <a:ea typeface="Consolas"/>
                <a:cs typeface="Consolas"/>
                <a:sym typeface="Consolas"/>
              </a:rPr>
              <a:t>рост +3.5% (22.93 → 23.74 €)</a:t>
            </a:r>
          </a:p>
          <a:p>
            <a:pPr lvl="0" rtl="0"/>
            <a:r>
              <a:rPr lang="ru-RU" sz="1000" dirty="0">
                <a:latin typeface="Consolas"/>
                <a:ea typeface="Consolas"/>
                <a:cs typeface="Consolas"/>
                <a:sym typeface="Consolas"/>
              </a:rPr>
              <a:t> 📈 </a:t>
            </a:r>
            <a:r>
              <a:rPr lang="en-US" sz="1000" dirty="0" err="1">
                <a:latin typeface="Consolas"/>
                <a:ea typeface="Consolas"/>
                <a:cs typeface="Consolas"/>
                <a:sym typeface="Consolas"/>
              </a:rPr>
              <a:t>lasna</a:t>
            </a:r>
            <a:r>
              <a:rPr lang="en-US" sz="10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00" dirty="0" err="1">
                <a:latin typeface="Consolas"/>
                <a:ea typeface="Consolas"/>
                <a:cs typeface="Consolas"/>
                <a:sym typeface="Consolas"/>
              </a:rPr>
              <a:t>kozmetika</a:t>
            </a:r>
            <a:r>
              <a:rPr lang="en-US" sz="10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00" dirty="0" err="1">
                <a:latin typeface="Consolas"/>
                <a:ea typeface="Consolas"/>
                <a:cs typeface="Consolas"/>
                <a:sym typeface="Consolas"/>
              </a:rPr>
              <a:t>dodatki</a:t>
            </a:r>
            <a:r>
              <a:rPr lang="en-US" sz="1000" dirty="0">
                <a:latin typeface="Consolas"/>
                <a:ea typeface="Consolas"/>
                <a:cs typeface="Consolas"/>
                <a:sym typeface="Consolas"/>
              </a:rPr>
              <a:t> : </a:t>
            </a:r>
            <a:r>
              <a:rPr lang="ru-RU" sz="1000" dirty="0">
                <a:latin typeface="Consolas"/>
                <a:ea typeface="Consolas"/>
                <a:cs typeface="Consolas"/>
                <a:sym typeface="Consolas"/>
              </a:rPr>
              <a:t>рост -2.3% (15.31 → 14.96 €)</a:t>
            </a:r>
          </a:p>
          <a:p>
            <a:pPr lvl="0" rtl="0"/>
            <a:r>
              <a:rPr lang="ru-RU" sz="1000" dirty="0">
                <a:latin typeface="Consolas"/>
                <a:ea typeface="Consolas"/>
                <a:cs typeface="Consolas"/>
                <a:sym typeface="Consolas"/>
              </a:rPr>
              <a:t> 📈 </a:t>
            </a:r>
            <a:r>
              <a:rPr lang="en-US" sz="1000" dirty="0" err="1">
                <a:latin typeface="Consolas"/>
                <a:ea typeface="Consolas"/>
                <a:cs typeface="Consolas"/>
                <a:sym typeface="Consolas"/>
              </a:rPr>
              <a:t>svetila</a:t>
            </a:r>
            <a:r>
              <a:rPr lang="en-US" sz="10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00" dirty="0" err="1">
                <a:latin typeface="Consolas"/>
                <a:ea typeface="Consolas"/>
                <a:cs typeface="Consolas"/>
                <a:sym typeface="Consolas"/>
              </a:rPr>
              <a:t>luci</a:t>
            </a:r>
            <a:r>
              <a:rPr lang="en-US" sz="1000" dirty="0">
                <a:latin typeface="Consolas"/>
                <a:ea typeface="Consolas"/>
                <a:cs typeface="Consolas"/>
                <a:sym typeface="Consolas"/>
              </a:rPr>
              <a:t>            : </a:t>
            </a:r>
            <a:r>
              <a:rPr lang="ru-RU" sz="1000" dirty="0">
                <a:latin typeface="Consolas"/>
                <a:ea typeface="Consolas"/>
                <a:cs typeface="Consolas"/>
                <a:sym typeface="Consolas"/>
              </a:rPr>
              <a:t>рост -55.3% (112.03 → 50.12 €)</a:t>
            </a:r>
          </a:p>
          <a:p>
            <a:pPr lvl="0" rtl="0"/>
            <a:r>
              <a:rPr lang="ru-RU" sz="1000" dirty="0">
                <a:latin typeface="Consolas"/>
                <a:ea typeface="Consolas"/>
                <a:cs typeface="Consolas"/>
                <a:sym typeface="Consolas"/>
              </a:rPr>
              <a:t> 📈 </a:t>
            </a:r>
            <a:r>
              <a:rPr lang="en-US" sz="1000" dirty="0" err="1">
                <a:latin typeface="Consolas"/>
                <a:ea typeface="Consolas"/>
                <a:cs typeface="Consolas"/>
                <a:sym typeface="Consolas"/>
              </a:rPr>
              <a:t>knjige</a:t>
            </a:r>
            <a:r>
              <a:rPr lang="en-US" sz="10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00" dirty="0" err="1">
                <a:latin typeface="Consolas"/>
                <a:ea typeface="Consolas"/>
                <a:cs typeface="Consolas"/>
                <a:sym typeface="Consolas"/>
              </a:rPr>
              <a:t>vse</a:t>
            </a:r>
            <a:r>
              <a:rPr lang="en-US" sz="1000" dirty="0"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-RU" sz="10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00" dirty="0">
                <a:latin typeface="Consolas"/>
                <a:ea typeface="Consolas"/>
                <a:cs typeface="Consolas"/>
                <a:sym typeface="Consolas"/>
              </a:rPr>
              <a:t> : </a:t>
            </a:r>
            <a:r>
              <a:rPr lang="ru-RU" sz="1000" dirty="0">
                <a:latin typeface="Consolas"/>
                <a:ea typeface="Consolas"/>
                <a:cs typeface="Consolas"/>
                <a:sym typeface="Consolas"/>
              </a:rPr>
              <a:t>рост +15.3% (20.00 → 23.07 €)</a:t>
            </a:r>
            <a:endParaRPr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" name="Google Shape;201;p27"/>
          <p:cNvSpPr txBox="1"/>
          <p:nvPr/>
        </p:nvSpPr>
        <p:spPr>
          <a:xfrm>
            <a:off x="4424850" y="670440"/>
            <a:ext cx="4500000" cy="110796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rtl="0"/>
            <a:r>
              <a:rPr lang="ru-RU" sz="1000" dirty="0">
                <a:latin typeface="Consolas"/>
                <a:ea typeface="Consolas"/>
                <a:cs typeface="Consolas"/>
                <a:sym typeface="Consolas"/>
              </a:rPr>
              <a:t>АНАЛИЗ СЕЗОННОСТИ ЦЕН</a:t>
            </a:r>
            <a:endParaRPr lang="en-US" sz="1000" dirty="0">
              <a:latin typeface="Consolas"/>
              <a:ea typeface="Consolas"/>
              <a:cs typeface="Consolas"/>
              <a:sym typeface="Consolas"/>
            </a:endParaRPr>
          </a:p>
          <a:p>
            <a:pPr lvl="0" rtl="0"/>
            <a:r>
              <a:rPr lang="en-US" sz="10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000" dirty="0" err="1">
                <a:latin typeface="Consolas"/>
                <a:ea typeface="Consolas"/>
                <a:cs typeface="Consolas"/>
                <a:sym typeface="Consolas"/>
              </a:rPr>
              <a:t>sns.barplot</a:t>
            </a:r>
            <a:r>
              <a:rPr lang="en-US" sz="1000" dirty="0">
                <a:latin typeface="Consolas"/>
                <a:ea typeface="Consolas"/>
                <a:cs typeface="Consolas"/>
                <a:sym typeface="Consolas"/>
              </a:rPr>
              <a:t>(data=seasonality, x='month', y='mean', palette='</a:t>
            </a:r>
            <a:r>
              <a:rPr lang="en-US" sz="1000" dirty="0" err="1">
                <a:latin typeface="Consolas"/>
                <a:ea typeface="Consolas"/>
                <a:cs typeface="Consolas"/>
                <a:sym typeface="Consolas"/>
              </a:rPr>
              <a:t>Blues_d</a:t>
            </a:r>
            <a:r>
              <a:rPr lang="en-US" sz="1000" dirty="0">
                <a:latin typeface="Consolas"/>
                <a:ea typeface="Consolas"/>
                <a:cs typeface="Consolas"/>
                <a:sym typeface="Consolas"/>
              </a:rPr>
              <a:t>')</a:t>
            </a:r>
          </a:p>
          <a:p>
            <a:pPr lvl="0" rtl="0"/>
            <a:r>
              <a:rPr lang="en-US" sz="10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-RU" sz="1000" dirty="0">
                <a:latin typeface="Consolas"/>
                <a:ea typeface="Consolas"/>
                <a:cs typeface="Consolas"/>
                <a:sym typeface="Consolas"/>
              </a:rPr>
              <a:t>График сезонности сохранён: </a:t>
            </a:r>
            <a:r>
              <a:rPr lang="en-US" sz="1000" dirty="0">
                <a:latin typeface="Consolas"/>
                <a:ea typeface="Consolas"/>
                <a:cs typeface="Consolas"/>
                <a:sym typeface="Consolas"/>
              </a:rPr>
              <a:t>seasonality.png</a:t>
            </a:r>
          </a:p>
          <a:p>
            <a:pPr lvl="0" rtl="0"/>
            <a:r>
              <a:rPr lang="en-US" sz="10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-RU" sz="1000" dirty="0">
                <a:latin typeface="Consolas"/>
                <a:ea typeface="Consolas"/>
                <a:cs typeface="Consolas"/>
                <a:sym typeface="Consolas"/>
              </a:rPr>
              <a:t>Пик цен: месяц 9 (средняя цена 117.58 €)</a:t>
            </a:r>
          </a:p>
          <a:p>
            <a:pPr lvl="0" rtl="0"/>
            <a:r>
              <a:rPr lang="ru-RU" sz="1000" dirty="0">
                <a:latin typeface="Consolas"/>
                <a:ea typeface="Consolas"/>
                <a:cs typeface="Consolas"/>
                <a:sym typeface="Consolas"/>
              </a:rPr>
              <a:t> Минимум цен: месяц 12 (средняя цена 85.18 €)</a:t>
            </a:r>
            <a:endParaRPr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" name="Google Shape;201;p27"/>
          <p:cNvSpPr txBox="1"/>
          <p:nvPr/>
        </p:nvSpPr>
        <p:spPr>
          <a:xfrm>
            <a:off x="4424850" y="1778405"/>
            <a:ext cx="4500000" cy="110796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rtl="0"/>
            <a:r>
              <a:rPr lang="ru-RU" sz="9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-RU" sz="1000" dirty="0">
                <a:latin typeface="Consolas"/>
                <a:ea typeface="Consolas"/>
                <a:cs typeface="Consolas"/>
                <a:sym typeface="Consolas"/>
              </a:rPr>
              <a:t>Задача 5: Выявление выбросов в ценах (метод </a:t>
            </a:r>
            <a:r>
              <a:rPr lang="ru-RU" sz="1000" dirty="0" err="1">
                <a:latin typeface="Consolas"/>
                <a:ea typeface="Consolas"/>
                <a:cs typeface="Consolas"/>
                <a:sym typeface="Consolas"/>
              </a:rPr>
              <a:t>межквартильного</a:t>
            </a:r>
            <a:r>
              <a:rPr lang="ru-RU" sz="1000" dirty="0">
                <a:latin typeface="Consolas"/>
                <a:ea typeface="Consolas"/>
                <a:cs typeface="Consolas"/>
                <a:sym typeface="Consolas"/>
              </a:rPr>
              <a:t> размаха)</a:t>
            </a:r>
          </a:p>
          <a:p>
            <a:pPr lvl="0" rtl="0"/>
            <a:r>
              <a:rPr lang="ru-RU" sz="1000" dirty="0">
                <a:latin typeface="Consolas"/>
                <a:ea typeface="Consolas"/>
                <a:cs typeface="Consolas"/>
                <a:sym typeface="Consolas"/>
              </a:rPr>
              <a:t>   Нижняя граница: -92.95 €</a:t>
            </a:r>
          </a:p>
          <a:p>
            <a:pPr lvl="0" rtl="0"/>
            <a:r>
              <a:rPr lang="ru-RU" sz="1000" dirty="0">
                <a:latin typeface="Consolas"/>
                <a:ea typeface="Consolas"/>
                <a:cs typeface="Consolas"/>
                <a:sym typeface="Consolas"/>
              </a:rPr>
              <a:t>   Верхняя граница: 194.89 €</a:t>
            </a:r>
          </a:p>
          <a:p>
            <a:pPr lvl="0" rtl="0"/>
            <a:r>
              <a:rPr lang="ru-RU" sz="1000" dirty="0">
                <a:latin typeface="Consolas"/>
                <a:ea typeface="Consolas"/>
                <a:cs typeface="Consolas"/>
                <a:sym typeface="Consolas"/>
              </a:rPr>
              <a:t>   Выбросов обнаружено: 5,906 (11.81%)</a:t>
            </a:r>
          </a:p>
          <a:p>
            <a:pPr lvl="0" rtl="0"/>
            <a:r>
              <a:rPr lang="ru-RU" sz="1000" dirty="0">
                <a:latin typeface="Consolas"/>
                <a:ea typeface="Consolas"/>
                <a:cs typeface="Consolas"/>
                <a:sym typeface="Consolas"/>
              </a:rPr>
              <a:t> Сохранено: price_outliers.png</a:t>
            </a:r>
            <a:endParaRPr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" name="Google Shape;201;p27"/>
          <p:cNvSpPr txBox="1"/>
          <p:nvPr/>
        </p:nvSpPr>
        <p:spPr>
          <a:xfrm>
            <a:off x="0" y="2547847"/>
            <a:ext cx="4424850" cy="203129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rtl="0"/>
            <a:r>
              <a:rPr lang="ru-RU" sz="1000" dirty="0">
                <a:latin typeface="Consolas"/>
                <a:ea typeface="Consolas"/>
                <a:cs typeface="Consolas"/>
                <a:sym typeface="Consolas"/>
              </a:rPr>
              <a:t> Анализ цен по подкатегориям</a:t>
            </a:r>
          </a:p>
          <a:p>
            <a:pPr lvl="0" rtl="0"/>
            <a:r>
              <a:rPr lang="ru-RU" sz="1000" dirty="0">
                <a:latin typeface="Consolas"/>
                <a:ea typeface="Consolas"/>
                <a:cs typeface="Consolas"/>
                <a:sym typeface="Consolas"/>
              </a:rPr>
              <a:t>   Колонка '</a:t>
            </a:r>
            <a:r>
              <a:rPr lang="ru-RU" sz="1000" dirty="0" err="1">
                <a:latin typeface="Consolas"/>
                <a:ea typeface="Consolas"/>
                <a:cs typeface="Consolas"/>
                <a:sym typeface="Consolas"/>
              </a:rPr>
              <a:t>subcategory</a:t>
            </a:r>
            <a:r>
              <a:rPr lang="ru-RU" sz="1000" dirty="0">
                <a:latin typeface="Consolas"/>
                <a:ea typeface="Consolas"/>
                <a:cs typeface="Consolas"/>
                <a:sym typeface="Consolas"/>
              </a:rPr>
              <a:t>' отсутствует. Анализ по брендам...</a:t>
            </a:r>
          </a:p>
          <a:p>
            <a:pPr lvl="0" rtl="0"/>
            <a:r>
              <a:rPr lang="ru-RU" sz="1000" dirty="0">
                <a:latin typeface="Consolas"/>
                <a:ea typeface="Consolas"/>
                <a:cs typeface="Consolas"/>
                <a:sym typeface="Consolas"/>
              </a:rPr>
              <a:t>   Проанализировано брендов: 10</a:t>
            </a:r>
          </a:p>
          <a:p>
            <a:pPr lvl="0" rtl="0"/>
            <a:r>
              <a:rPr lang="ru-RU" sz="1000" dirty="0">
                <a:latin typeface="Consolas"/>
                <a:ea typeface="Consolas"/>
                <a:cs typeface="Consolas"/>
                <a:sym typeface="Consolas"/>
              </a:rPr>
              <a:t>   Топ-3 бренда по средней цене:</a:t>
            </a:r>
          </a:p>
          <a:p>
            <a:pPr lvl="0" rtl="0"/>
            <a:r>
              <a:rPr lang="ru-RU" sz="1000" dirty="0">
                <a:latin typeface="Consolas"/>
                <a:ea typeface="Consolas"/>
                <a:cs typeface="Consolas"/>
                <a:sym typeface="Consolas"/>
              </a:rPr>
              <a:t>      1. </a:t>
            </a:r>
            <a:r>
              <a:rPr lang="ru-RU" sz="1000" dirty="0" err="1">
                <a:latin typeface="Consolas"/>
                <a:ea typeface="Consolas"/>
                <a:cs typeface="Consolas"/>
                <a:sym typeface="Consolas"/>
              </a:rPr>
              <a:t>Greatstore</a:t>
            </a:r>
            <a:r>
              <a:rPr lang="ru-RU" sz="1000" dirty="0">
                <a:latin typeface="Consolas"/>
                <a:ea typeface="Consolas"/>
                <a:cs typeface="Consolas"/>
                <a:sym typeface="Consolas"/>
              </a:rPr>
              <a:t>                     | Средняя цена: 235.16 € | Товаров: 3002</a:t>
            </a:r>
          </a:p>
          <a:p>
            <a:pPr lvl="0" rtl="0"/>
            <a:r>
              <a:rPr lang="ru-RU" sz="1000" dirty="0">
                <a:latin typeface="Consolas"/>
                <a:ea typeface="Consolas"/>
                <a:cs typeface="Consolas"/>
                <a:sym typeface="Consolas"/>
              </a:rPr>
              <a:t>      2. </a:t>
            </a:r>
            <a:r>
              <a:rPr lang="ru-RU" sz="1000" dirty="0" err="1">
                <a:latin typeface="Consolas"/>
                <a:ea typeface="Consolas"/>
                <a:cs typeface="Consolas"/>
                <a:sym typeface="Consolas"/>
              </a:rPr>
              <a:t>shumee</a:t>
            </a:r>
            <a:r>
              <a:rPr lang="ru-RU" sz="1000" dirty="0">
                <a:latin typeface="Consolas"/>
                <a:ea typeface="Consolas"/>
                <a:cs typeface="Consolas"/>
                <a:sym typeface="Consolas"/>
              </a:rPr>
              <a:t>                         | Средняя цена: 223.46 € | Товаров: 4027</a:t>
            </a:r>
          </a:p>
          <a:p>
            <a:pPr lvl="0" rtl="0"/>
            <a:r>
              <a:rPr lang="ru-RU" sz="1000" dirty="0">
                <a:latin typeface="Consolas"/>
                <a:ea typeface="Consolas"/>
                <a:cs typeface="Consolas"/>
                <a:sym typeface="Consolas"/>
              </a:rPr>
              <a:t>      3. </a:t>
            </a:r>
            <a:r>
              <a:rPr lang="ru-RU" sz="1000" dirty="0" err="1">
                <a:latin typeface="Consolas"/>
                <a:ea typeface="Consolas"/>
                <a:cs typeface="Consolas"/>
                <a:sym typeface="Consolas"/>
              </a:rPr>
              <a:t>Vidaxl</a:t>
            </a:r>
            <a:r>
              <a:rPr lang="ru-RU" sz="1000" dirty="0">
                <a:latin typeface="Consolas"/>
                <a:ea typeface="Consolas"/>
                <a:cs typeface="Consolas"/>
                <a:sym typeface="Consolas"/>
              </a:rPr>
              <a:t>                         | Средняя цена: 156.27 € | Товаров: 944</a:t>
            </a:r>
          </a:p>
          <a:p>
            <a:pPr lvl="0" rtl="0"/>
            <a:r>
              <a:rPr lang="ru-RU" sz="1000" dirty="0">
                <a:latin typeface="Consolas"/>
                <a:ea typeface="Consolas"/>
                <a:cs typeface="Consolas"/>
                <a:sym typeface="Consolas"/>
              </a:rPr>
              <a:t> Сохранено: price_by_brand.png</a:t>
            </a:r>
          </a:p>
          <a:p>
            <a:pPr lvl="0" rtl="0"/>
            <a:r>
              <a:rPr lang="ru-RU" sz="1000" dirty="0">
                <a:latin typeface="Consolas"/>
                <a:ea typeface="Consolas"/>
                <a:cs typeface="Consolas"/>
                <a:sym typeface="Consolas"/>
              </a:rPr>
              <a:t> Сохранена статистика по брендам</a:t>
            </a:r>
            <a:endParaRPr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" name="Google Shape;201;p27"/>
          <p:cNvSpPr txBox="1"/>
          <p:nvPr/>
        </p:nvSpPr>
        <p:spPr>
          <a:xfrm>
            <a:off x="4424850" y="2898491"/>
            <a:ext cx="4424850" cy="110796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rtl="0"/>
            <a:r>
              <a:rPr lang="ru-RU" sz="1000" dirty="0">
                <a:latin typeface="Consolas"/>
                <a:ea typeface="Consolas"/>
                <a:cs typeface="Consolas"/>
                <a:sym typeface="Consolas"/>
              </a:rPr>
              <a:t> Задача 4: Анализ цен по брендам</a:t>
            </a:r>
            <a:endParaRPr lang="en-US" sz="1000" dirty="0">
              <a:latin typeface="Consolas"/>
              <a:ea typeface="Consolas"/>
              <a:cs typeface="Consolas"/>
              <a:sym typeface="Consolas"/>
            </a:endParaRPr>
          </a:p>
          <a:p>
            <a:pPr lvl="0" rtl="0"/>
            <a:r>
              <a:rPr lang="en-US" sz="10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000" dirty="0" err="1">
                <a:latin typeface="Consolas"/>
                <a:ea typeface="Consolas"/>
                <a:cs typeface="Consolas"/>
                <a:sym typeface="Consolas"/>
              </a:rPr>
              <a:t>sns.barplot</a:t>
            </a:r>
            <a:r>
              <a:rPr lang="en-US" sz="1000" dirty="0">
                <a:latin typeface="Consolas"/>
                <a:ea typeface="Consolas"/>
                <a:cs typeface="Consolas"/>
                <a:sym typeface="Consolas"/>
              </a:rPr>
              <a:t>(data=</a:t>
            </a:r>
            <a:r>
              <a:rPr lang="en-US" sz="1000" dirty="0" err="1">
                <a:latin typeface="Consolas"/>
                <a:ea typeface="Consolas"/>
                <a:cs typeface="Consolas"/>
                <a:sym typeface="Consolas"/>
              </a:rPr>
              <a:t>brand_stats.reset_index</a:t>
            </a:r>
            <a:r>
              <a:rPr lang="en-US" sz="1000" dirty="0">
                <a:latin typeface="Consolas"/>
                <a:ea typeface="Consolas"/>
                <a:cs typeface="Consolas"/>
                <a:sym typeface="Consolas"/>
              </a:rPr>
              <a:t>(), x='median', y='</a:t>
            </a:r>
            <a:r>
              <a:rPr lang="en-US" sz="1000" dirty="0" err="1">
                <a:latin typeface="Consolas"/>
                <a:ea typeface="Consolas"/>
                <a:cs typeface="Consolas"/>
                <a:sym typeface="Consolas"/>
              </a:rPr>
              <a:t>brand_name</a:t>
            </a:r>
            <a:r>
              <a:rPr lang="en-US" sz="1000" dirty="0">
                <a:latin typeface="Consolas"/>
                <a:ea typeface="Consolas"/>
                <a:cs typeface="Consolas"/>
                <a:sym typeface="Consolas"/>
              </a:rPr>
              <a:t>', palette='</a:t>
            </a:r>
            <a:r>
              <a:rPr lang="en-US" sz="1000" dirty="0" err="1">
                <a:latin typeface="Consolas"/>
                <a:ea typeface="Consolas"/>
                <a:cs typeface="Consolas"/>
                <a:sym typeface="Consolas"/>
              </a:rPr>
              <a:t>viridis</a:t>
            </a:r>
            <a:r>
              <a:rPr lang="en-US" sz="1000" dirty="0">
                <a:latin typeface="Consolas"/>
                <a:ea typeface="Consolas"/>
                <a:cs typeface="Consolas"/>
                <a:sym typeface="Consolas"/>
              </a:rPr>
              <a:t>')</a:t>
            </a:r>
          </a:p>
          <a:p>
            <a:pPr lvl="0" rtl="0"/>
            <a:r>
              <a:rPr lang="en-US" sz="10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-RU" sz="1000" dirty="0">
                <a:latin typeface="Consolas"/>
                <a:ea typeface="Consolas"/>
                <a:cs typeface="Consolas"/>
                <a:sym typeface="Consolas"/>
              </a:rPr>
              <a:t>Сохранено: </a:t>
            </a:r>
            <a:r>
              <a:rPr lang="en-US" sz="1000" dirty="0">
                <a:latin typeface="Consolas"/>
                <a:ea typeface="Consolas"/>
                <a:cs typeface="Consolas"/>
                <a:sym typeface="Consolas"/>
              </a:rPr>
              <a:t>brand_prices.png</a:t>
            </a:r>
          </a:p>
          <a:p>
            <a:pPr lvl="0" rtl="0"/>
            <a:r>
              <a:rPr lang="en-US" sz="1000" dirty="0"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ru-RU" sz="1000" dirty="0">
                <a:latin typeface="Consolas"/>
                <a:ea typeface="Consolas"/>
                <a:cs typeface="Consolas"/>
                <a:sym typeface="Consolas"/>
              </a:rPr>
              <a:t>Самый дорогой бренд: </a:t>
            </a:r>
            <a:r>
              <a:rPr lang="en-US" sz="1000" dirty="0" err="1">
                <a:latin typeface="Consolas"/>
                <a:ea typeface="Consolas"/>
                <a:cs typeface="Consolas"/>
                <a:sym typeface="Consolas"/>
              </a:rPr>
              <a:t>shumee</a:t>
            </a:r>
            <a:r>
              <a:rPr lang="en-US" sz="1000" dirty="0">
                <a:latin typeface="Consolas"/>
                <a:ea typeface="Consolas"/>
                <a:cs typeface="Consolas"/>
                <a:sym typeface="Consolas"/>
              </a:rPr>
              <a:t> (124.00 €)</a:t>
            </a:r>
          </a:p>
          <a:p>
            <a:pPr lvl="0" rtl="0"/>
            <a:r>
              <a:rPr lang="en-US" sz="1000" dirty="0"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ru-RU" sz="1000" dirty="0">
                <a:latin typeface="Consolas"/>
                <a:ea typeface="Consolas"/>
                <a:cs typeface="Consolas"/>
                <a:sym typeface="Consolas"/>
              </a:rPr>
              <a:t>Самый дешёвый бренд: </a:t>
            </a:r>
            <a:r>
              <a:rPr lang="en-US" sz="1000" dirty="0">
                <a:latin typeface="Consolas"/>
                <a:ea typeface="Consolas"/>
                <a:cs typeface="Consolas"/>
                <a:sym typeface="Consolas"/>
              </a:rPr>
              <a:t>Gap (20.34 </a:t>
            </a:r>
            <a:endParaRPr sz="1000"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9396996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 smtClean="0"/>
              <a:t>19</a:t>
            </a:fld>
            <a:endParaRPr lang="ru"/>
          </a:p>
        </p:txBody>
      </p:sp>
      <p:graphicFrame>
        <p:nvGraphicFramePr>
          <p:cNvPr id="3" name="Диаграмма 2"/>
          <p:cNvGraphicFramePr/>
          <p:nvPr>
            <p:extLst>
              <p:ext uri="{D42A27DB-BD31-4B8C-83A1-F6EECF244321}">
                <p14:modId xmlns:p14="http://schemas.microsoft.com/office/powerpoint/2010/main" val="1787564992"/>
              </p:ext>
            </p:extLst>
          </p:nvPr>
        </p:nvGraphicFramePr>
        <p:xfrm>
          <a:off x="1" y="0"/>
          <a:ext cx="4320539" cy="5143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Диаграмма 4"/>
          <p:cNvGraphicFramePr/>
          <p:nvPr>
            <p:extLst>
              <p:ext uri="{D42A27DB-BD31-4B8C-83A1-F6EECF244321}">
                <p14:modId xmlns:p14="http://schemas.microsoft.com/office/powerpoint/2010/main" val="2262460684"/>
              </p:ext>
            </p:extLst>
          </p:nvPr>
        </p:nvGraphicFramePr>
        <p:xfrm>
          <a:off x="4320540" y="0"/>
          <a:ext cx="4751701" cy="48924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0498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"/>
                                        <p:tgtEl>
                                          <p:spTgt spid="3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100"/>
                                        <p:tgtEl>
                                          <p:spTgt spid="3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100"/>
                                        <p:tgtEl>
                                          <p:spTgt spid="3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100"/>
                                        <p:tgtEl>
                                          <p:spTgt spid="3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100"/>
                                        <p:tgtEl>
                                          <p:spTgt spid="3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100"/>
                                        <p:tgtEl>
                                          <p:spTgt spid="3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"/>
                            </p:stCondLst>
                            <p:childTnLst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100"/>
                                        <p:tgtEl>
                                          <p:spTgt spid="3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00"/>
                            </p:stCondLst>
                            <p:childTnLst>
                              <p:par>
                                <p:cTn id="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100"/>
                                        <p:tgtEl>
                                          <p:spTgt spid="3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800"/>
                            </p:stCondLst>
                            <p:childTnLst>
                              <p:par>
                                <p:cTn id="3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100"/>
                                        <p:tgtEl>
                                          <p:spTgt spid="3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900"/>
                            </p:stCondLst>
                            <p:childTnLst>
                              <p:par>
                                <p:cTn id="4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100"/>
                                        <p:tgtEl>
                                          <p:spTgt spid="3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100"/>
                                        <p:tgtEl>
                                          <p:spTgt spid="3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100"/>
                            </p:stCondLst>
                            <p:childTnLst>
                              <p:par>
                                <p:cTn id="4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4" categoryIdx="1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100"/>
                                        <p:tgtEl>
                                          <p:spTgt spid="3">
                                            <p:graphicEl>
                                              <a:chart seriesIdx="-4" categoryIdx="1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200"/>
                            </p:stCondLst>
                            <p:childTnLst>
                              <p:par>
                                <p:cTn id="5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100"/>
                                        <p:tgtEl>
                                          <p:spTgt spid="5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300"/>
                            </p:stCondLst>
                            <p:childTnLst>
                              <p:par>
                                <p:cTn id="5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100"/>
                                        <p:tgtEl>
                                          <p:spTgt spid="5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400"/>
                            </p:stCondLst>
                            <p:childTnLst>
                              <p:par>
                                <p:cTn id="6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100"/>
                                        <p:tgtEl>
                                          <p:spTgt spid="5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500"/>
                            </p:stCondLst>
                            <p:childTnLst>
                              <p:par>
                                <p:cTn id="6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100"/>
                                        <p:tgtEl>
                                          <p:spTgt spid="5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Chart bld="category"/>
        </p:bldSub>
      </p:bldGraphic>
      <p:bldGraphic spid="5" grpId="0">
        <p:bldSub>
          <a:bldChart bld="category"/>
        </p:bldSub>
      </p:bldGraphic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 smtClean="0"/>
              <a:t>20</a:t>
            </a:fld>
            <a:endParaRPr lang="ru"/>
          </a:p>
        </p:txBody>
      </p:sp>
      <p:graphicFrame>
        <p:nvGraphicFramePr>
          <p:cNvPr id="3" name="Диаграмма 2"/>
          <p:cNvGraphicFramePr/>
          <p:nvPr>
            <p:extLst>
              <p:ext uri="{D42A27DB-BD31-4B8C-83A1-F6EECF244321}">
                <p14:modId xmlns:p14="http://schemas.microsoft.com/office/powerpoint/2010/main" val="2420797797"/>
              </p:ext>
            </p:extLst>
          </p:nvPr>
        </p:nvGraphicFramePr>
        <p:xfrm>
          <a:off x="4660261" y="157797"/>
          <a:ext cx="4411980" cy="45378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Диаграмма 5"/>
          <p:cNvGraphicFramePr/>
          <p:nvPr>
            <p:extLst>
              <p:ext uri="{D42A27DB-BD31-4B8C-83A1-F6EECF244321}">
                <p14:modId xmlns:p14="http://schemas.microsoft.com/office/powerpoint/2010/main" val="1165572210"/>
              </p:ext>
            </p:extLst>
          </p:nvPr>
        </p:nvGraphicFramePr>
        <p:xfrm>
          <a:off x="75069" y="157798"/>
          <a:ext cx="4513556" cy="4931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115229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"/>
                                        <p:tgtEl>
                                          <p:spTgt spid="3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"/>
                                        <p:tgtEl>
                                          <p:spTgt spid="3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"/>
                                        <p:tgtEl>
                                          <p:spTgt spid="3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"/>
                                        <p:tgtEl>
                                          <p:spTgt spid="3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"/>
                                        <p:tgtEl>
                                          <p:spTgt spid="3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"/>
                                        <p:tgtEl>
                                          <p:spTgt spid="3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"/>
                            </p:stCondLst>
                            <p:childTnLst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"/>
                                        <p:tgtEl>
                                          <p:spTgt spid="3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"/>
                            </p:stCondLst>
                            <p:childTnLst>
                              <p:par>
                                <p:cTn id="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"/>
                                        <p:tgtEl>
                                          <p:spTgt spid="3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"/>
                            </p:stCondLst>
                            <p:childTnLst>
                              <p:par>
                                <p:cTn id="3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"/>
                                        <p:tgtEl>
                                          <p:spTgt spid="3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"/>
                            </p:stCondLst>
                            <p:childTnLst>
                              <p:par>
                                <p:cTn id="4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"/>
                                        <p:tgtEl>
                                          <p:spTgt spid="3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"/>
                                        <p:tgtEl>
                                          <p:spTgt spid="3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"/>
                            </p:stCondLst>
                            <p:childTnLst>
                              <p:par>
                                <p:cTn id="4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4" categoryIdx="1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"/>
                                        <p:tgtEl>
                                          <p:spTgt spid="3">
                                            <p:graphicEl>
                                              <a:chart seriesIdx="-4" categoryIdx="1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"/>
                            </p:stCondLst>
                            <p:childTnLst>
                              <p:par>
                                <p:cTn id="5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-4" categoryIdx="1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"/>
                                        <p:tgtEl>
                                          <p:spTgt spid="3">
                                            <p:graphicEl>
                                              <a:chart seriesIdx="-4" categoryIdx="1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"/>
                            </p:stCondLst>
                            <p:childTnLst>
                              <p:par>
                                <p:cTn id="5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"/>
                                        <p:tgtEl>
                                          <p:spTgt spid="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"/>
                            </p:stCondLst>
                            <p:childTnLst>
                              <p:par>
                                <p:cTn id="6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0"/>
                                        <p:tgtEl>
                                          <p:spTgt spid="6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50"/>
                            </p:stCondLst>
                            <p:childTnLst>
                              <p:par>
                                <p:cTn id="6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"/>
                                        <p:tgtEl>
                                          <p:spTgt spid="6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00"/>
                            </p:stCondLst>
                            <p:childTnLst>
                              <p:par>
                                <p:cTn id="6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50"/>
                                        <p:tgtEl>
                                          <p:spTgt spid="6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850"/>
                            </p:stCondLst>
                            <p:childTnLst>
                              <p:par>
                                <p:cTn id="7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50"/>
                                        <p:tgtEl>
                                          <p:spTgt spid="6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900"/>
                            </p:stCondLst>
                            <p:childTnLst>
                              <p:par>
                                <p:cTn id="7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9" dur="50"/>
                                        <p:tgtEl>
                                          <p:spTgt spid="6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950"/>
                            </p:stCondLst>
                            <p:childTnLst>
                              <p:par>
                                <p:cTn id="8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3" dur="50"/>
                                        <p:tgtEl>
                                          <p:spTgt spid="6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"/>
                            </p:stCondLst>
                            <p:childTnLst>
                              <p:par>
                                <p:cTn id="8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7" dur="50"/>
                                        <p:tgtEl>
                                          <p:spTgt spid="6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50"/>
                            </p:stCondLst>
                            <p:childTnLst>
                              <p:par>
                                <p:cTn id="8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1" dur="50"/>
                                        <p:tgtEl>
                                          <p:spTgt spid="6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100"/>
                            </p:stCondLst>
                            <p:childTnLst>
                              <p:par>
                                <p:cTn id="9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5" dur="50"/>
                                        <p:tgtEl>
                                          <p:spTgt spid="6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150"/>
                            </p:stCondLst>
                            <p:childTnLst>
                              <p:par>
                                <p:cTn id="9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9" dur="50"/>
                                        <p:tgtEl>
                                          <p:spTgt spid="6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Chart bld="category"/>
        </p:bldSub>
      </p:bldGraphic>
      <p:bldGraphic spid="6" grpId="0">
        <p:bldSub>
          <a:bldChart bld="category"/>
        </p:bldSub>
      </p:bldGraphic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 smtClean="0"/>
              <a:t>21</a:t>
            </a:fld>
            <a:endParaRPr lang="ru"/>
          </a:p>
        </p:txBody>
      </p:sp>
      <p:graphicFrame>
        <p:nvGraphicFramePr>
          <p:cNvPr id="10" name="Диаграмма 9"/>
          <p:cNvGraphicFramePr/>
          <p:nvPr>
            <p:extLst>
              <p:ext uri="{D42A27DB-BD31-4B8C-83A1-F6EECF244321}">
                <p14:modId xmlns:p14="http://schemas.microsoft.com/office/powerpoint/2010/main" val="3636034607"/>
              </p:ext>
            </p:extLst>
          </p:nvPr>
        </p:nvGraphicFramePr>
        <p:xfrm>
          <a:off x="4588624" y="101599"/>
          <a:ext cx="4555375" cy="47026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Диаграмма 10"/>
          <p:cNvGraphicFramePr/>
          <p:nvPr>
            <p:extLst>
              <p:ext uri="{D42A27DB-BD31-4B8C-83A1-F6EECF244321}">
                <p14:modId xmlns:p14="http://schemas.microsoft.com/office/powerpoint/2010/main" val="2489628940"/>
              </p:ext>
            </p:extLst>
          </p:nvPr>
        </p:nvGraphicFramePr>
        <p:xfrm>
          <a:off x="0" y="101599"/>
          <a:ext cx="4516866" cy="49876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83893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40"/>
                                        <p:tgtEl>
                                          <p:spTgt spid="10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40"/>
                                        <p:tgtEl>
                                          <p:spTgt spid="10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40"/>
                                        <p:tgtEl>
                                          <p:spTgt spid="10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40"/>
                                        <p:tgtEl>
                                          <p:spTgt spid="10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60"/>
                            </p:stCondLst>
                            <p:childTnLst>
                              <p:par>
                                <p:cTn id="2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40"/>
                                        <p:tgtEl>
                                          <p:spTgt spid="10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"/>
                            </p:stCondLst>
                            <p:childTnLst>
                              <p:par>
                                <p:cTn id="2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40"/>
                                        <p:tgtEl>
                                          <p:spTgt spid="10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40"/>
                            </p:stCondLst>
                            <p:childTnLst>
                              <p:par>
                                <p:cTn id="2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40"/>
                                        <p:tgtEl>
                                          <p:spTgt spid="10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80"/>
                            </p:stCondLst>
                            <p:childTnLst>
                              <p:par>
                                <p:cTn id="3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40"/>
                                        <p:tgtEl>
                                          <p:spTgt spid="10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20"/>
                            </p:stCondLst>
                            <p:childTnLst>
                              <p:par>
                                <p:cTn id="3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40"/>
                                        <p:tgtEl>
                                          <p:spTgt spid="10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60"/>
                            </p:stCondLst>
                            <p:childTnLst>
                              <p:par>
                                <p:cTn id="4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40"/>
                                        <p:tgtEl>
                                          <p:spTgt spid="10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"/>
                            </p:stCondLst>
                            <p:childTnLst>
                              <p:par>
                                <p:cTn id="4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40"/>
                                        <p:tgtEl>
                                          <p:spTgt spid="10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40"/>
                            </p:stCondLst>
                            <p:childTnLst>
                              <p:par>
                                <p:cTn id="4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1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40"/>
                                        <p:tgtEl>
                                          <p:spTgt spid="10">
                                            <p:graphicEl>
                                              <a:chart seriesIdx="-4" categoryIdx="1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80"/>
                            </p:stCondLst>
                            <p:childTnLst>
                              <p:par>
                                <p:cTn id="5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1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40"/>
                                        <p:tgtEl>
                                          <p:spTgt spid="10">
                                            <p:graphicEl>
                                              <a:chart seriesIdx="-4" categoryIdx="1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20"/>
                            </p:stCondLst>
                            <p:childTnLst>
                              <p:par>
                                <p:cTn id="5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1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40"/>
                                        <p:tgtEl>
                                          <p:spTgt spid="10">
                                            <p:graphicEl>
                                              <a:chart seriesIdx="-4" categoryIdx="1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60"/>
                            </p:stCondLst>
                            <p:childTnLst>
                              <p:par>
                                <p:cTn id="6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1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40"/>
                                        <p:tgtEl>
                                          <p:spTgt spid="10">
                                            <p:graphicEl>
                                              <a:chart seriesIdx="-4" categoryIdx="1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00"/>
                            </p:stCondLst>
                            <p:childTnLst>
                              <p:par>
                                <p:cTn id="6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1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40"/>
                                        <p:tgtEl>
                                          <p:spTgt spid="10">
                                            <p:graphicEl>
                                              <a:chart seriesIdx="-4" categoryIdx="1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640"/>
                            </p:stCondLst>
                            <p:childTnLst>
                              <p:par>
                                <p:cTn id="6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1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40"/>
                                        <p:tgtEl>
                                          <p:spTgt spid="10">
                                            <p:graphicEl>
                                              <a:chart seriesIdx="-4" categoryIdx="1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680"/>
                            </p:stCondLst>
                            <p:childTnLst>
                              <p:par>
                                <p:cTn id="7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1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40"/>
                                        <p:tgtEl>
                                          <p:spTgt spid="10">
                                            <p:graphicEl>
                                              <a:chart seriesIdx="-4" categoryIdx="1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720"/>
                            </p:stCondLst>
                            <p:childTnLst>
                              <p:par>
                                <p:cTn id="7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1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9" dur="40"/>
                                        <p:tgtEl>
                                          <p:spTgt spid="10">
                                            <p:graphicEl>
                                              <a:chart seriesIdx="-4" categoryIdx="1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760"/>
                            </p:stCondLst>
                            <p:childTnLst>
                              <p:par>
                                <p:cTn id="8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1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3" dur="40"/>
                                        <p:tgtEl>
                                          <p:spTgt spid="10">
                                            <p:graphicEl>
                                              <a:chart seriesIdx="-4" categoryIdx="1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800"/>
                            </p:stCondLst>
                            <p:childTnLst>
                              <p:par>
                                <p:cTn id="8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1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7" dur="40"/>
                                        <p:tgtEl>
                                          <p:spTgt spid="10">
                                            <p:graphicEl>
                                              <a:chart seriesIdx="-4" categoryIdx="1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840"/>
                            </p:stCondLst>
                            <p:childTnLst>
                              <p:par>
                                <p:cTn id="8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2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1" dur="40"/>
                                        <p:tgtEl>
                                          <p:spTgt spid="10">
                                            <p:graphicEl>
                                              <a:chart seriesIdx="-4" categoryIdx="2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880"/>
                            </p:stCondLst>
                            <p:childTnLst>
                              <p:par>
                                <p:cTn id="9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2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5" dur="40"/>
                                        <p:tgtEl>
                                          <p:spTgt spid="10">
                                            <p:graphicEl>
                                              <a:chart seriesIdx="-4" categoryIdx="2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920"/>
                            </p:stCondLst>
                            <p:childTnLst>
                              <p:par>
                                <p:cTn id="9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2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9" dur="40"/>
                                        <p:tgtEl>
                                          <p:spTgt spid="10">
                                            <p:graphicEl>
                                              <a:chart seriesIdx="-4" categoryIdx="2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960"/>
                            </p:stCondLst>
                            <p:childTnLst>
                              <p:par>
                                <p:cTn id="10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2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3" dur="40"/>
                                        <p:tgtEl>
                                          <p:spTgt spid="10">
                                            <p:graphicEl>
                                              <a:chart seriesIdx="-4" categoryIdx="2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000"/>
                            </p:stCondLst>
                            <p:childTnLst>
                              <p:par>
                                <p:cTn id="10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2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7" dur="40"/>
                                        <p:tgtEl>
                                          <p:spTgt spid="10">
                                            <p:graphicEl>
                                              <a:chart seriesIdx="-4" categoryIdx="2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040"/>
                            </p:stCondLst>
                            <p:childTnLst>
                              <p:par>
                                <p:cTn id="10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2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1" dur="40"/>
                                        <p:tgtEl>
                                          <p:spTgt spid="10">
                                            <p:graphicEl>
                                              <a:chart seriesIdx="-4" categoryIdx="2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080"/>
                            </p:stCondLst>
                            <p:childTnLst>
                              <p:par>
                                <p:cTn id="1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5" dur="100"/>
                                        <p:tgtEl>
                                          <p:spTgt spid="11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180"/>
                            </p:stCondLst>
                            <p:childTnLst>
                              <p:par>
                                <p:cTn id="1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9" dur="100"/>
                                        <p:tgtEl>
                                          <p:spTgt spid="11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280"/>
                            </p:stCondLst>
                            <p:childTnLst>
                              <p:par>
                                <p:cTn id="12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3" dur="100"/>
                                        <p:tgtEl>
                                          <p:spTgt spid="11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380"/>
                            </p:stCondLst>
                            <p:childTnLst>
                              <p:par>
                                <p:cTn id="12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7" dur="100"/>
                                        <p:tgtEl>
                                          <p:spTgt spid="11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1480"/>
                            </p:stCondLst>
                            <p:childTnLst>
                              <p:par>
                                <p:cTn id="12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1" dur="100"/>
                                        <p:tgtEl>
                                          <p:spTgt spid="11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1580"/>
                            </p:stCondLst>
                            <p:childTnLst>
                              <p:par>
                                <p:cTn id="13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5" dur="100"/>
                                        <p:tgtEl>
                                          <p:spTgt spid="11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1680"/>
                            </p:stCondLst>
                            <p:childTnLst>
                              <p:par>
                                <p:cTn id="13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9" dur="100"/>
                                        <p:tgtEl>
                                          <p:spTgt spid="11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1780"/>
                            </p:stCondLst>
                            <p:childTnLst>
                              <p:par>
                                <p:cTn id="14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3" dur="100"/>
                                        <p:tgtEl>
                                          <p:spTgt spid="11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1880"/>
                            </p:stCondLst>
                            <p:childTnLst>
                              <p:par>
                                <p:cTn id="14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7" dur="100"/>
                                        <p:tgtEl>
                                          <p:spTgt spid="11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1980"/>
                            </p:stCondLst>
                            <p:childTnLst>
                              <p:par>
                                <p:cTn id="14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1" dur="100"/>
                                        <p:tgtEl>
                                          <p:spTgt spid="11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2080"/>
                            </p:stCondLst>
                            <p:childTnLst>
                              <p:par>
                                <p:cTn id="15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5" dur="100"/>
                                        <p:tgtEl>
                                          <p:spTgt spid="11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1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0" dur="100"/>
                                        <p:tgtEl>
                                          <p:spTgt spid="11">
                                            <p:graphicEl>
                                              <a:chart seriesIdx="-4" categoryIdx="1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1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5" dur="100"/>
                                        <p:tgtEl>
                                          <p:spTgt spid="11">
                                            <p:graphicEl>
                                              <a:chart seriesIdx="-4" categoryIdx="1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1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0" dur="100"/>
                                        <p:tgtEl>
                                          <p:spTgt spid="11">
                                            <p:graphicEl>
                                              <a:chart seriesIdx="-4" categoryIdx="1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1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5" dur="100"/>
                                        <p:tgtEl>
                                          <p:spTgt spid="11">
                                            <p:graphicEl>
                                              <a:chart seriesIdx="-4" categoryIdx="1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1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0" dur="100"/>
                                        <p:tgtEl>
                                          <p:spTgt spid="11">
                                            <p:graphicEl>
                                              <a:chart seriesIdx="-4" categoryIdx="1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0" grpId="0">
        <p:bldSub>
          <a:bldChart bld="category"/>
        </p:bldSub>
      </p:bldGraphic>
      <p:bldGraphic spid="11" grpId="0">
        <p:bldSub>
          <a:bldChart bld="category"/>
        </p:bldSub>
      </p:bldGraphic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Решения по масштабированию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 smtClean="0"/>
              <a:t>22</a:t>
            </a:fld>
            <a:endParaRPr lang="ru"/>
          </a:p>
        </p:txBody>
      </p:sp>
      <p:sp>
        <p:nvSpPr>
          <p:cNvPr id="4" name="Прямоугольник 3"/>
          <p:cNvSpPr/>
          <p:nvPr/>
        </p:nvSpPr>
        <p:spPr>
          <a:xfrm>
            <a:off x="-1" y="619050"/>
            <a:ext cx="4804229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текущей реализации проект работает на одном узле, но архитектура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-приложения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stateless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(не хранит глобальное состояние между сессиями), что позволяет применять горизонтальное масштабирование без изменения кода. 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 можно легко масштабировать, добавляя больше серверов:</a:t>
            </a:r>
          </a:p>
          <a:p>
            <a:pPr algn="just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Запуск нескольких копий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можно открыть несколько одинаковых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дашбордов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разных компьютерах/серверах и распределить пользователей между ними через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балансировщик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нагрузки.</a:t>
            </a:r>
          </a:p>
          <a:p>
            <a:pPr algn="just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автоскейлинг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приложение упаковывается в контейнер, который автоматически запускается на дополнительных серверах при росте нагрузки.</a:t>
            </a:r>
          </a:p>
          <a:p>
            <a:pPr algn="just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Общий кэш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вместо локального кэша использовать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Redis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чтобы все серверы видели одни и те же данные.</a:t>
            </a:r>
          </a:p>
          <a:p>
            <a:pPr algn="just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Облачные решения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деплой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Cloud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где масштабирование происходит автоматически.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Приложение не привязано к одному серверу, каждая сессия независима, поэтому можно просто добавлять новые серверы для обработки большего числа пользователей.</a:t>
            </a:r>
          </a:p>
        </p:txBody>
      </p:sp>
      <p:pic>
        <p:nvPicPr>
          <p:cNvPr id="6" name="Рисунок 5" descr="Docker - Visual Studio Marketplace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2799" y="716940"/>
            <a:ext cx="1687487" cy="1431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Рисунок 6" descr="Building and Deploying Snowflake and Streamlit Applications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1360" y="4011028"/>
            <a:ext cx="2072640" cy="1212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Рисунок 7" descr="Автоскейлинг в Kubernetes: HPA, VPA и Cluster Autoscaler / Хабр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9420" y="1773275"/>
            <a:ext cx="2354580" cy="132524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Рисунок 8" descr="Redis Object Cache – WordPress plugin | WordPress.org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4228" y="3124244"/>
            <a:ext cx="2658745" cy="861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494074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Доступ и использование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 smtClean="0"/>
              <a:t>23</a:t>
            </a:fld>
            <a:endParaRPr lang="ru"/>
          </a:p>
        </p:txBody>
      </p:sp>
      <p:sp>
        <p:nvSpPr>
          <p:cNvPr id="4" name="Прямоугольник 3"/>
          <p:cNvSpPr/>
          <p:nvPr/>
        </p:nvSpPr>
        <p:spPr>
          <a:xfrm>
            <a:off x="224973" y="720751"/>
            <a:ext cx="4688114" cy="44227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ru-RU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Конечный дистрибутив проекта представлен в виде ZIP-архива (05_Distribution.zip), содержащего полностью автономное </a:t>
            </a:r>
            <a:r>
              <a:rPr lang="ru-RU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десктопное</a:t>
            </a:r>
            <a:r>
              <a:rPr lang="ru-RU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приложение.</a:t>
            </a:r>
          </a:p>
          <a:p>
            <a:pPr>
              <a:lnSpc>
                <a:spcPct val="115000"/>
              </a:lnSpc>
            </a:pPr>
            <a:r>
              <a:rPr lang="ru-RU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Состав архива:</a:t>
            </a:r>
          </a:p>
          <a:p>
            <a:pPr marL="342900" indent="-342900">
              <a:lnSpc>
                <a:spcPct val="115000"/>
              </a:lnSpc>
              <a:buFont typeface="+mj-lt"/>
              <a:buAutoNum type="arabicPeriod"/>
            </a:pPr>
            <a:r>
              <a:rPr lang="ru-RU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START.bat — скрипт автоматического развёртывания: проверяет наличие </a:t>
            </a:r>
            <a:r>
              <a:rPr lang="ru-RU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Python</a:t>
            </a:r>
            <a:r>
              <a:rPr lang="ru-RU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устанавливает недостающие библиотеки и запускает </a:t>
            </a:r>
            <a:r>
              <a:rPr lang="ru-RU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дашборд</a:t>
            </a:r>
            <a:r>
              <a:rPr lang="ru-RU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15000"/>
              </a:lnSpc>
              <a:buFont typeface="+mj-lt"/>
              <a:buAutoNum type="arabicPeriod"/>
            </a:pPr>
            <a:r>
              <a:rPr lang="ru-RU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dashboard.py — исходный код аналитической платформы.</a:t>
            </a:r>
          </a:p>
          <a:p>
            <a:pPr marL="342900" indent="-342900">
              <a:lnSpc>
                <a:spcPct val="115000"/>
              </a:lnSpc>
              <a:buFont typeface="+mj-lt"/>
              <a:buAutoNum type="arabicPeriod"/>
            </a:pPr>
            <a:r>
              <a:rPr lang="ru-RU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requirements.txt + README.txt — перечень зависимостей и пошаговая инструкция.</a:t>
            </a:r>
          </a:p>
          <a:p>
            <a:pPr marL="342900" indent="-342900">
              <a:lnSpc>
                <a:spcPct val="115000"/>
              </a:lnSpc>
              <a:buFont typeface="+mj-lt"/>
              <a:buAutoNum type="arabicPeriod"/>
            </a:pPr>
            <a:r>
              <a:rPr lang="ru-RU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Папка </a:t>
            </a:r>
            <a:r>
              <a:rPr lang="ru-RU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</a:t>
            </a:r>
            <a:r>
              <a:rPr lang="ru-RU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 — подготовленное место для размещения исходного CSV-файла.</a:t>
            </a:r>
          </a:p>
          <a:p>
            <a:pPr>
              <a:lnSpc>
                <a:spcPct val="115000"/>
              </a:lnSpc>
            </a:pPr>
            <a:r>
              <a:rPr lang="ru-RU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Принцип использования:</a:t>
            </a:r>
          </a:p>
          <a:p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Пользователю достаточно распаковать архив и запустить START.bat. Приложение самостоятельно настроит окружение, 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докачает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зависимости и откроет интерфейс в браузере (localhost:8501.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5480" y="1146628"/>
            <a:ext cx="2702468" cy="2549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3457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 smtClean="0"/>
              <a:t>24</a:t>
            </a:fld>
            <a:endParaRPr lang="ru"/>
          </a:p>
        </p:txBody>
      </p:sp>
      <p:pic>
        <p:nvPicPr>
          <p:cNvPr id="3" name="06_Demonstration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237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Преимущества интерактивного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дашборда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 smtClean="0"/>
              <a:t>25</a:t>
            </a:fld>
            <a:endParaRPr lang="ru"/>
          </a:p>
        </p:txBody>
      </p:sp>
      <p:sp>
        <p:nvSpPr>
          <p:cNvPr id="4" name="Прямоугольник 3"/>
          <p:cNvSpPr/>
          <p:nvPr/>
        </p:nvSpPr>
        <p:spPr>
          <a:xfrm>
            <a:off x="246743" y="619050"/>
            <a:ext cx="6364513" cy="405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ru-RU" sz="16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Автоматизация развёртывания</a:t>
            </a:r>
          </a:p>
          <a:p>
            <a:pPr>
              <a:lnSpc>
                <a:spcPct val="115000"/>
              </a:lnSpc>
            </a:pPr>
            <a:r>
              <a:rPr lang="ru-RU" sz="16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</a:t>
            </a:r>
            <a:r>
              <a:rPr lang="ru-RU" sz="1600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Автоустановка</a:t>
            </a:r>
            <a:r>
              <a:rPr lang="ru-RU" sz="16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всех зависимостей при первом запуске</a:t>
            </a:r>
          </a:p>
          <a:p>
            <a:pPr>
              <a:lnSpc>
                <a:spcPct val="115000"/>
              </a:lnSpc>
            </a:pPr>
            <a:r>
              <a:rPr lang="ru-RU" sz="16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Запуск через один файл START.bat без ручной настройки</a:t>
            </a:r>
          </a:p>
          <a:p>
            <a:pPr>
              <a:lnSpc>
                <a:spcPct val="115000"/>
              </a:lnSpc>
            </a:pPr>
            <a:r>
              <a:rPr lang="ru-RU" sz="16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Работа с большими данными</a:t>
            </a:r>
          </a:p>
          <a:p>
            <a:pPr>
              <a:lnSpc>
                <a:spcPct val="115000"/>
              </a:lnSpc>
            </a:pPr>
            <a:r>
              <a:rPr lang="ru-RU" sz="16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Обработка CSV-файла объёмом 94,81</a:t>
            </a:r>
          </a:p>
          <a:p>
            <a:pPr>
              <a:lnSpc>
                <a:spcPct val="115000"/>
              </a:lnSpc>
            </a:pPr>
            <a:r>
              <a:rPr lang="ru-RU" sz="16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Оптимизированная загрузка (</a:t>
            </a:r>
            <a:r>
              <a:rPr lang="ru-RU" sz="1600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nrows</a:t>
            </a:r>
            <a:r>
              <a:rPr lang="ru-RU" sz="16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=50000) для быстрой работы</a:t>
            </a:r>
          </a:p>
          <a:p>
            <a:pPr>
              <a:lnSpc>
                <a:spcPct val="115000"/>
              </a:lnSpc>
            </a:pPr>
            <a:r>
              <a:rPr lang="ru-RU" sz="16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Эффективное использование памяти через кэширование</a:t>
            </a:r>
          </a:p>
          <a:p>
            <a:pPr>
              <a:lnSpc>
                <a:spcPct val="115000"/>
              </a:lnSpc>
            </a:pPr>
            <a:r>
              <a:rPr lang="ru-RU" sz="16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Интеллектуальная аналитика</a:t>
            </a:r>
          </a:p>
          <a:p>
            <a:pPr>
              <a:lnSpc>
                <a:spcPct val="115000"/>
              </a:lnSpc>
            </a:pPr>
            <a:r>
              <a:rPr lang="ru-RU" sz="16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NLP-анализ: извлечение ключевых слов из названий товаров</a:t>
            </a:r>
          </a:p>
          <a:p>
            <a:pPr>
              <a:lnSpc>
                <a:spcPct val="115000"/>
              </a:lnSpc>
            </a:pPr>
            <a:r>
              <a:rPr lang="ru-RU" sz="16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Автоматическая фильтрация стоп-слов (русские + английские)</a:t>
            </a:r>
          </a:p>
          <a:p>
            <a:pPr>
              <a:lnSpc>
                <a:spcPct val="115000"/>
              </a:lnSpc>
            </a:pPr>
            <a:r>
              <a:rPr lang="ru-RU" sz="16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Визуализация частотности слов (облако слов + графики)</a:t>
            </a:r>
          </a:p>
          <a:p>
            <a:pPr>
              <a:lnSpc>
                <a:spcPct val="115000"/>
              </a:lnSpc>
            </a:pPr>
            <a:r>
              <a:rPr lang="ru-RU" sz="16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 Интерактивность</a:t>
            </a:r>
          </a:p>
          <a:p>
            <a:pPr>
              <a:lnSpc>
                <a:spcPct val="115000"/>
              </a:lnSpc>
            </a:pPr>
            <a:r>
              <a:rPr lang="ru-RU" sz="16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Динамические фильтры по брендам и ценам</a:t>
            </a:r>
          </a:p>
          <a:p>
            <a:pPr>
              <a:lnSpc>
                <a:spcPct val="115000"/>
              </a:lnSpc>
            </a:pPr>
            <a:r>
              <a:rPr lang="ru-RU" sz="16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Мгновенное обновление всех графиков</a:t>
            </a:r>
            <a:endParaRPr lang="ru-RU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00275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 algn="ctr"/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внимание.</a:t>
            </a:r>
          </a:p>
        </p:txBody>
      </p:sp>
    </p:spTree>
    <p:extLst>
      <p:ext uri="{BB962C8B-B14F-4D97-AF65-F5344CB8AC3E}">
        <p14:creationId xmlns:p14="http://schemas.microsoft.com/office/powerpoint/2010/main" val="41758438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Статья на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Habr</a:t>
            </a:r>
            <a:endParaRPr lang="ru-RU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673659" y="2877511"/>
            <a:ext cx="4179930" cy="700754"/>
          </a:xfrm>
        </p:spPr>
        <p:txBody>
          <a:bodyPr/>
          <a:lstStyle/>
          <a:p>
            <a:pPr marL="114300" indent="0">
              <a:buNone/>
            </a:pPr>
            <a:r>
              <a:rPr lang="en-US" dirty="0">
                <a:hlinkClick r:id="rId2" tooltip="https://habr.com/ru/sandbox/285760/"/>
              </a:rPr>
              <a:t>https://habr.com/ru/sandbox/285760/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 smtClean="0"/>
              <a:t>27</a:t>
            </a:fld>
            <a:endParaRPr lang="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613" y="1760154"/>
            <a:ext cx="2984046" cy="2935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008143"/>
      </p:ext>
    </p:extLst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24649</TotalTime>
  <Words>2184</Words>
  <Application>Microsoft Office PowerPoint</Application>
  <PresentationFormat>Экран (16:9)</PresentationFormat>
  <Paragraphs>275</Paragraphs>
  <Slides>27</Slides>
  <Notes>0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33" baseType="lpstr">
      <vt:lpstr>Times New Roman</vt:lpstr>
      <vt:lpstr>Arial</vt:lpstr>
      <vt:lpstr>Lato</vt:lpstr>
      <vt:lpstr>Roboto</vt:lpstr>
      <vt:lpstr>Consolas</vt:lpstr>
      <vt:lpstr>Material</vt:lpstr>
      <vt:lpstr>Анализ динамики цен и структуры ассортимента товаров интернет-магазина Mimovrste</vt:lpstr>
      <vt:lpstr>Mimovrste – Локальный маркетплейс</vt:lpstr>
      <vt:lpstr>Презентация PowerPoint</vt:lpstr>
      <vt:lpstr>Презентация PowerPoint</vt:lpstr>
      <vt:lpstr>Аналоги</vt:lpstr>
      <vt:lpstr>Основные этапы анализа</vt:lpstr>
      <vt:lpstr>Цель работы</vt:lpstr>
      <vt:lpstr>Парсинг</vt:lpstr>
      <vt:lpstr>Характеристики сбора данных</vt:lpstr>
      <vt:lpstr>Структура собранных данных</vt:lpstr>
      <vt:lpstr>ETL Предобработка данных</vt:lpstr>
      <vt:lpstr>Формирование датасета</vt:lpstr>
      <vt:lpstr>GitHub</vt:lpstr>
      <vt:lpstr>Используемые инструменты</vt:lpstr>
      <vt:lpstr>Программная реализация проекта</vt:lpstr>
      <vt:lpstr>Инфраструктура разработки интерактивного дашборда </vt:lpstr>
      <vt:lpstr>Статистические методы</vt:lpstr>
      <vt:lpstr>Результаты работы кода</vt:lpstr>
      <vt:lpstr>Презентация PowerPoint</vt:lpstr>
      <vt:lpstr>Презентация PowerPoint</vt:lpstr>
      <vt:lpstr>Презентация PowerPoint</vt:lpstr>
      <vt:lpstr>Решения по масштабированию</vt:lpstr>
      <vt:lpstr>Доступ и использование</vt:lpstr>
      <vt:lpstr>Презентация PowerPoint</vt:lpstr>
      <vt:lpstr>Преимущества интерактивного дашборда</vt:lpstr>
      <vt:lpstr>Спасибо за внимание.</vt:lpstr>
      <vt:lpstr>Статья на Habr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Анализ динамики цен и структуры ассортимента товаров интернет-магазина Mimovrste</dc:title>
  <dc:creator>Марина Опанович</dc:creator>
  <cp:lastModifiedBy>Андрей Белаш</cp:lastModifiedBy>
  <cp:revision>55</cp:revision>
  <dcterms:modified xsi:type="dcterms:W3CDTF">2026-09-25T09:46:45Z</dcterms:modified>
</cp:coreProperties>
</file>